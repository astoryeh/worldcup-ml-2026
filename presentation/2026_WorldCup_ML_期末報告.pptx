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奪冠機率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阿根廷</c:v>
                  </c:pt>
                  <c:pt idx="1">
                    <c:v>巴西</c:v>
                  </c:pt>
                  <c:pt idx="2">
                    <c:v>法國</c:v>
                  </c:pt>
                  <c:pt idx="3">
                    <c:v>英格蘭</c:v>
                  </c:pt>
                  <c:pt idx="4">
                    <c:v>西班牙</c:v>
                  </c:pt>
                  <c:pt idx="5">
                    <c:v>比利時</c:v>
                  </c:pt>
                  <c:pt idx="6">
                    <c:v>荷蘭</c:v>
                  </c:pt>
                  <c:pt idx="7">
                    <c:v>葡萄牙</c:v>
                  </c:pt>
                  <c:pt idx="8">
                    <c:v>德國</c:v>
                  </c:pt>
                  <c:pt idx="9">
                    <c:v>烏拉圭</c:v>
                  </c:pt>
                  <c:pt idx="10">
                    <c:v>哥倫比亞</c:v>
                  </c:pt>
                  <c:pt idx="11">
                    <c:v>克羅埃西亞</c:v>
                  </c:pt>
                  <c:pt idx="12">
                    <c:v>摩洛哥</c:v>
                  </c:pt>
                  <c:pt idx="13">
                    <c:v>墨西哥</c:v>
                  </c:pt>
                  <c:pt idx="14">
                    <c:v>瑞士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6.22</c:v>
                </c:pt>
                <c:pt idx="1">
                  <c:v>6.03</c:v>
                </c:pt>
                <c:pt idx="2">
                  <c:v>5.65</c:v>
                </c:pt>
                <c:pt idx="3">
                  <c:v>5.49</c:v>
                </c:pt>
                <c:pt idx="4">
                  <c:v>5.01</c:v>
                </c:pt>
                <c:pt idx="5">
                  <c:v>4.96</c:v>
                </c:pt>
                <c:pt idx="6">
                  <c:v>4.8</c:v>
                </c:pt>
                <c:pt idx="7">
                  <c:v>4.69</c:v>
                </c:pt>
                <c:pt idx="8">
                  <c:v>4.57</c:v>
                </c:pt>
                <c:pt idx="9">
                  <c:v>3.58</c:v>
                </c:pt>
                <c:pt idx="10">
                  <c:v>3.48</c:v>
                </c:pt>
                <c:pt idx="11">
                  <c:v>3.17</c:v>
                </c:pt>
                <c:pt idx="12">
                  <c:v>2.89</c:v>
                </c:pt>
                <c:pt idx="13">
                  <c:v>2.73</c:v>
                </c:pt>
                <c:pt idx="14">
                  <c:v>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2B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6350" cap="flat">
              <a:solidFill>
                <a:srgbClr val="E8E5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世界盃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勝率分析與比分預測系統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· Dixon-Coles Poisson · Monte Carlo · K-Means Clustering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32004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9377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場國際比賽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筆 FIFA 排名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位主將陣容資料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0" y="5760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Yeh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0" y="6126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· 期末專題報告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 ·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個章節，從資料工程到模型驗證的完整流程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專題背景與動機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為什麼預測世界盃？挑戰在哪？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資料工程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 場 + 67,894 排名 + 240 球員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Dixon-Coles + λ修正 + 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模型驗證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+ 混淆矩陣 + ROC + 費雪檢定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3444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+ PCA + 攻/守/平衡 三類型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8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奪冠機率預測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1228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10,000 次完整賽程模擬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技術創新與挑戰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3444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bug 排除、平局悖論、數據校正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1228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結論與未來工作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主要貢獻、系統限制、改進方向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為什麼選擇 2026 世界盃？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全球運動賽事預測是機器學習的經典難題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全球規模盛事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· 104 場比賽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累計超過 30 億觀眾收看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006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預測難度高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006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平局率 ~25% · 黑馬常見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商業博弈業界共同難題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868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資料豐富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完整歷史比賽資料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排名 + 球員能力公開可得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A2B5C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研究目標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建立一個融合多種 ML 模型、可解釋、可重現的世界盃預測系統，並透過真實歷史數據驗證準確率優於隨機猜測 (33.3%)。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研究目標與主要貢獻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5 大原創貢獻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1762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分類 + Dixon-Coles Poisson + 多因素 λ 修正 + MAP 比分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97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 bug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999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原公式方向反轉導致強防守隊變成被預測輸球，修正後預測一致性大幅提升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對稱預測消除主場偏差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正向＋反向各預測一次取平均，符合中性場地的世界盃實際情況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2010 → 2014 → 2018 → 2022 漸進驗證，避免資訊洩漏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互動式 Streamlit 視覺化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468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頁完整應用，含 PCA 分群、Monte Carlo 模擬、費雪檢定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三大資料源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公開資料庫 + 自建陣容資料的混合策略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國際足球比賽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802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公開資料集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1872-2026 完整歷史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含友誼賽、資格賽、世界盃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7091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世界排名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664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官方歷史月度排名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 walk-forward 驗證的時點積分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10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5953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主將陣容資料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8526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48 隊 × 5 主將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OVR / 速度 / 射門 / 傳球等 7 屬性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資料時間範圍跨越 154 年，涵蓋 235 個國家隊，是公開可得最完整的足球資料集之一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資料清洗與特徵工程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從原始資料到模型可用特徵的 5 步驟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過濾缺失值 · 統一國家名稱 · 解析賽事類型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時間衰減權重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898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exp(-0.1 × 年數) 讓近期比賽影響更大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球隊強度計算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6758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年加權勝率 / 進球 / 失球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歷史對齊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453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用該屆 WC 開幕前最近月份的 FIFA 積分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8016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特徵向量化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230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差值化（team1 - team2）+ 對稱性處理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時間衰減權重表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= exp(-0.1 × 年數)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834640"/>
          <a:ext cx="4663440" cy="27432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年數前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近一年比賽幾乎滿權重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前年/上屆 WC 仍重要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中期歷史，影響約 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上上屆 WC 約半權重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更久遠的影響大幅折減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從原始特徵到最終比分預測的完整流程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勝/平/負三向分類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0678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Dixon-Coles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004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004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期望進球 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8110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多因素修正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59436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 + FIFA + 狀態 + 經驗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rot="5400000">
            <a:off x="85542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MC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6868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86868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8696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比分預測 + 10K 次模擬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最終機率公式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P(勝/平/負) = 0.20 × XGBoost + 0.80 × Poisson(λ)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= λ_DC × rank_factor × squad_factor × form_factor × experience_factor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1：XGBoost 分類器（20%）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勝/平/負三向機率分類 · Walk-Forward 訓練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核心角色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P(勝) / P(平) / P(負) 三向機率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棵樹 · max_depth = 4 · learning_rate = 0.05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 → 消除主場偏差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輸入特徵（11 維）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pts_diff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rank_diff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win_rate_diff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avg_goals_diff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defense_diff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form_diff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goals_product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confed_bonus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recent_form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3774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knockout_exp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0" y="182880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Walk-Forward 訓練流程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7512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241280" y="2560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53.3%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751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03920" y="3063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78240" y="3063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7512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039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24128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67512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778240" y="4069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675120" y="4709160"/>
            <a:ext cx="4663440" cy="0"/>
          </a:xfrm>
          <a:prstGeom prst="line">
            <a:avLst/>
          </a:prstGeom>
          <a:noFill/>
          <a:ln w="12700">
            <a:solidFill>
              <a:srgbClr val="E8E5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平均驗證準確率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14400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667512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隨機猜測 33.3% · 提升 +18.7%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2：Dixon-Coles Poisson（80%）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從攻防強度推導期望進球，再積分出 W/D/L 機率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μ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atk_A: A 隊進攻強度 · vul_B: B 隊防守脆弱度 · μ: 國際賽進球均值 (1.35)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(進攻強度)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raw_goals × 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弱聯盟進攻打折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(防守脆弱度)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raw_conceded ÷ √cs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弱聯盟防守實際更弱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(足聯品質係數)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0.72 ~ 1.00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67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OFC 0.72 → CONMEBOL 1.00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E9A8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從 λ 計算 W/D/L 機率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P(W) = Σ Poisson(g₁ | λ_A) × Poisson(g₂ | λ_B)   其中 g₁ &gt; g₂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枚舉 0~7 進球範圍涵蓋 99.9%+ 機率，即可得勝/平/負完整分布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3：λ 多因素複合修正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在純 DC 基礎上疊加 4 個現實因子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λ_final = λ_DC × rank_factor × squad_factor × form_factor × experience_factor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118872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因素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次方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主將 OVR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(ovr₁ / ovr₂)^0.35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陣容明星密度（權重最大）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 FIFA 積分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((p₁+300)/(p₂+300))^0.22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歷史排名差距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 近 2 年勝率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((f₁+0.3)/(f₂+0.3))^0.18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球隊近期狀態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🏅 淘汰賽經驗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((e₁+10)/(e₂+10))^0.08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大賽 DNA（影響最小）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440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範例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5715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主將平均 OVR 85 vs 79：squad_factor = (85/79)^0.35 ≈ 1.027 → λ 提升 2.7%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4：MAP 比分 + Monte Carlo 模擬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從機率到具體比分，再到完整賽程模擬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MAP 最高機率比分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 Posteriori — 找出機率分布中最高的單一比分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92608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依融合機率 argmax(W,D,L) 取主預測方向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2044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在該方向 cells 中找最高 Poisson 機率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標記為預測比分 + ★ 顯示在矩陣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937760"/>
            <a:ext cx="4937760" cy="1097280"/>
          </a:xfrm>
          <a:prstGeom prst="roundRect">
            <a:avLst>
              <a:gd name="adj" fmla="val 4167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解決平局悖論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確保預測比分方向永遠與機率方向一致，避免「平局機率 20%卻每場都被預測平局」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Monte Carlo 賽程模擬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次完整賽程模擬，統計奪冠機率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926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組小組賽 → 各組前 2 出線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個最佳第 3 名晉級 → 32 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3749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R32 → R16 → QF → SF → Final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66560" y="4160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累計奪冠次數 / 10,000 = 奪冠機率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92240" y="4754880"/>
            <a:ext cx="4937760" cy="1325880"/>
          </a:xfrm>
          <a:prstGeom prst="roundRect">
            <a:avLst>
              <a:gd name="adj" fmla="val 3448"/>
            </a:avLst>
          </a:prstGeom>
          <a:solidFill>
            <a:srgbClr val="FDD8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846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6492240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次模擬 · 約 1,040,000 場虛擬比賽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5715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（每次完整賽程 = 104 場）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用時間順序模擬「過去訓練、未來預測」的真實場景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為什麼需要 Walk-Forward？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 train/test split 會「未來看到過去」造成資料洩漏。Walk-Forward 保證每一輪驗證時模型只看得到該時點之前的資料，符合實際預測場景。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3200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0120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56.2%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972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平均驗證準確率 </a:t>
            </a:r>
            <a:pPr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vs 隨機猜測基準 33.3%    →    </a:t>
            </a:r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顯著優於隨機 +18.7 個百分點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混淆矩陣：模型每個類別的表現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2022 卡達世界盃 64 場小組賽當測試集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混淆矩陣（2022 WC · 64 場）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669280" cy="329184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0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18288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5F846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 Recall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66560" y="2331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10058400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強隊優勢明顯易預測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0" y="32004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 Recall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1005840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弱隊輸球可預期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0" y="45720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074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10058400" y="4892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最難預測（業界共同難題）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整體準確率 54.7%，遠優於隨機 33.3%。平局是預測難題，所有商業博弈公司皆有此問題。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曲線 + 校準診斷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兩個進階指標：排序能力 vs 機率可信度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ROC AUC — 排序能力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「模型把該贏的場次排得越前面，AUC 越高」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246120"/>
            <a:ext cx="3851453" cy="164592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83280" y="3749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4114800"/>
            <a:ext cx="3703320" cy="16459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72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4617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偏弱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498348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4983480"/>
            <a:ext cx="2518258" cy="164592"/>
          </a:xfrm>
          <a:prstGeom prst="rect">
            <a:avLst/>
          </a:prstGeom>
          <a:solidFill>
            <a:srgbClr val="6B6760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🎚 校準誤差 (ECE)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「模型說 70% 勝率時，是否真的 70% 場次主隊贏」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5600" dirty="0"/>
          </a:p>
        </p:txBody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(Expected Calibration Error)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75120" y="4114800"/>
            <a:ext cx="457200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&lt; 0.05 校準極佳   🟡 &lt; 0.10 良好   🟠 ≥ 0.10 偏差大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本模型 ECE = 0.083 屬「良好」，機率值可按字面信賴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Monte Carlo 10,000 次模擬結果可信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ROC 量「排序能力」，校準量「機率本身的可信度」— 兩個指標檢驗不同面向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費雪精確檢定 (Fisher's Exact Test)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用嚴格統計方法證明模型不是運氣好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問題：54.7% 正確率是真有預測力，還是純粹運氣？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用「一對多 (One-vs-Rest)」拆 3×3 為 2×2 列聯表，對每類做費雪檢定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類別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Odds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顯著性 (α=0.05)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未達顯著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整體 3×3 卡方檢定（χ² test of independence）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統計量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20.8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33756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756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自由度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2648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91540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1540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顯著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 — K-Means + PCA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用非監督式學習找出 48 隊的天然分類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方法：K-Means (k=3) + PCA 二維降維 + Silhouette 0.31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560320"/>
            <a:ext cx="777240" cy="777240"/>
          </a:xfrm>
          <a:prstGeom prst="ellipse">
            <a:avLst/>
          </a:prstGeom>
          <a:solidFill>
            <a:srgbClr val="FBC1C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60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攻擊型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場均進球高 · 主動進攻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· Brazil · France · Germany · England · Spain · Belgium · Portugal · Netherlands · Morocco · Norway · Iran · Japan · Senegal · Algeria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977640"/>
            <a:ext cx="777240" cy="777240"/>
          </a:xfrm>
          <a:prstGeom prst="ellipse">
            <a:avLst/>
          </a:prstGeom>
          <a:solidFill>
            <a:srgbClr val="FCE3A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77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⚖️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691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攻守均衡 · 進失球中等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886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· Austria · Canada · Cape Verde · Colombia · Croatia · DR Congo · Ecuador · Egypt · Ghana · Haiti · Iraq · Ivory Coast · Jordan · Mexico · New Zealand · Panama · Qatar · Saudi Arabia · Scotland · South Africa · South Korea · Sweden · Switzerland · Tunisia · Uruguay · Uzbekistan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394960"/>
            <a:ext cx="777240" cy="777240"/>
          </a:xfrm>
          <a:prstGeom prst="ellipse">
            <a:avLst/>
          </a:prstGeom>
          <a:solidFill>
            <a:srgbClr val="C6D9E0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394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🛡️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69164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防守型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164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場均失球低 · 鐵桶陣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and Herzegovina · Curacao · Czechia · Paraguay · Turkiye · USA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 Top 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次完整賽程模擬的累計結果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排名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奪冠機率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進決賽機率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小組第一機率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🇦🇷 阿根廷   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🇧🇷 巴西   Brazil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🇫🇷 法國   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🏴󠁧󠁢󠁥󠁮󠁧󠁿 英格蘭   England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🇪🇸 西班牙   Spain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🇧🇪 比利時   Belgium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🇳🇱 荷蘭   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🇵🇹 葡萄牙   Portugal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🇩🇪 德國   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🇺🇾 烏拉圭   Uruguay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奪冠機率分散：Top 10 加起來才 ~48%，符合世界盃高度不確定性的本質。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奪冠機率分布視覺化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15 名球隊的奪冠機率長條圖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11064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觀察：歐洲傳統強權（法/英/比/西/德/荷/葡）佔 7 席，南美兩強（巴/阿）穩居前二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#1：Dixon-Coles 公式 bug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強防守隊反而被預測輸球的根本原因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0E1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問題：南韓三項數據全優（勝率/進球/失球），卻被預測輸 1-2 給南非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λ_KR &lt; λ_SA，方向完全相反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 (錯誤)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LEAGUE_AVG / def_B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對手失球少 → 我的 λ 變大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（直覺反！）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(正確)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LEAGUE_AVG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對手失球多 (vul 高) → 我容易進球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（合直覺）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440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修正後驗算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F8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 vs CZ: λ_KR=1.87 &gt; λ_CZ=0.66 → MAP 1-0    |    KR vs SA: λ_KR=1.19 &gt; λ_SA=0.67 → MAP 1-0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#2：平局悖論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「平局機率只 20%」為何「每場都被預測平局」？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看似矛盾的觀察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P(平局) 顯示只 20-27%，但 MAP「最高機率單一比分」常是 (1,1) — 為什麼？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答：當 λ_A ≈ λ_B 接近時，Poisson 分布的最高單一格落在 (1,1)，但「整體勝方總和」可能仍 &gt; 平局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舊策略：絕對 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找整個 Poisson 矩陣最大值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接近時恆挑 (1,1) 平局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與機率方向不一致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新策略：方向約束 MAP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先決定主預測方向 → 在該方向 cells 找最強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比分方向 = 機率方向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保證內部一致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預測比分 = 與整體勝率方向相符的「最強單一比分」，避免「預測平局又說對方贏面大」的視覺矛盾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#3：資料品質校正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用程式審計揪出 + 修正 48 隊 × 240 球員的資料錯誤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TEAM_INFO 校正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/ 18 項修正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從 #3 改為 #1（2022 WC 冠軍）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對重複 rank 修正 (Switzerland/Czechia/SA)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50→78（差 28 名）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Norway/Canada/Algeria 等 10+ 隊校正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↔ pts 100% 嚴格反向單調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04088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SQUAD_DATA 校正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球員 / 9 項修正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084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位退役/退出國家隊球員替換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Modrić Real Madrid → AC Milan（2025）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208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Džeko Fenerbahçe → Başakşehir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 37→38 歲、Ronaldo 40→41 歲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Ramos (葡萄牙人) 從 Cape Verde 移除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主要發現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4 個關鍵成果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828800" y="18745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模型準確率顯著優於隨機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24028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平均 52.0%，比隨機 33.3% 高 18.7 個百分點。費雪檢定 + 卡方檢定都拒絕「模型在亂猜」的虛無假設。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109728" cy="96012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奪冠機率分散合理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3375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阿根廷 6.22% / 巴西 6.03% / 法國 5.65% / 英格蘭 5.49% — 前 10 累計約 51%。符合世界盃高度不確定性的本質，沒有出現單一球隊獨大的失真。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09728" cy="960120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828800" y="40690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風格分群揭示 15 攻 27 平 6 守 結構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4434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自動發現的分群與直覺一致：歐美/南美強隊多為攻擊型，東歐/亞洲球隊多為平衡或防守型。Silhouette 0.33 顯示適度可分。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09728" cy="960120"/>
          </a:xfrm>
          <a:prstGeom prst="rect">
            <a:avLst/>
          </a:prstGeom>
          <a:solidFill>
            <a:srgbClr val="1F6E8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828800" y="51663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公式修正 + 多因素 λ 帶來預測一致性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553212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公式方向錯誤、引入 4 因素複合 λ 修正、加入方向約束 MAP，三項共同確保預測結果與球隊強度視覺一致。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系統限制與未來改進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誠實面對：本系統的 5 個侷限與後續方向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1920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平局預測能力有限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 7%、AUC 0.51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21214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嘗試 Skellam 分布或專門平局模型，導入即時賠率回饋校正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43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球員傷病/紅黃牌未考慮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用季前主將平均 OVR 估算實力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30358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整合即時傷兵名單 API（如 Transfermarkt），動態調整 OVR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749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資料時間範圍可再擴張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年加權，2025-2026 資料 1,167 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264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9502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增加歐國盃、美洲盃、亞洲盃等大賽結果作為遷移學習來源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371600" y="4663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假設賽程獨立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71600" y="4983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假設每場勝率不受前場結果影響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12648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8646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加入「momentum」、「疲勞」、「傷病累積」等動態狀態變數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486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模型可解釋性可加強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897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提供特徵重要性 + 費雪檢定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126480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5779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 SHAP values 對單場預測做特徵級貢獻分解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28800"/>
            <a:ext cx="36576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&amp; Questions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2D3E6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線上互動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8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https://worldcup-ml-2026-bzplzw7hoy7g5dcizaakvt.streamlit.app/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原始碼：github.com/AstorYeh/worldcup-ml-2026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世界盃 ML 預測系統 — 期末專題報告</dc:title>
  <dc:subject>PptxGenJS Presentation</dc:subject>
  <dc:creator>Jay Yeh</dc:creator>
  <cp:lastModifiedBy>Jay Yeh</cp:lastModifiedBy>
  <cp:revision>1</cp:revision>
  <dcterms:created xsi:type="dcterms:W3CDTF">2026-05-29T13:40:00Z</dcterms:created>
  <dcterms:modified xsi:type="dcterms:W3CDTF">2026-05-29T13:40:00Z</dcterms:modified>
</cp:coreProperties>
</file>