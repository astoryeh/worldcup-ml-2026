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charts/chart1.xml" ContentType="application/vnd.openxmlformats-officedocument.drawingml.chart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奪冠機率 (%)</c:v>
                </c:pt>
              </c:strCache>
            </c:strRef>
          </c:tx>
          <c:spPr>
            <a:solidFill>
              <a:srgbClr val="F96167"/>
            </a:solidFill>
            <a:effectLst/>
          </c:spPr>
          <c:invertIfNegative val="0"/>
          <c:dLbls>
            <c:numFmt formatCode="0.0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A2B5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Sheet1!$A$2:$A$16</c:f>
              <c:multiLvlStrCache>
                <c:ptCount val="15"/>
                <c:lvl>
                  <c:pt idx="0">
                    <c:v>阿根廷</c:v>
                  </c:pt>
                  <c:pt idx="1">
                    <c:v>巴西</c:v>
                  </c:pt>
                  <c:pt idx="2">
                    <c:v>英格蘭</c:v>
                  </c:pt>
                  <c:pt idx="3">
                    <c:v>法國</c:v>
                  </c:pt>
                  <c:pt idx="4">
                    <c:v>西班牙</c:v>
                  </c:pt>
                  <c:pt idx="5">
                    <c:v>比利時</c:v>
                  </c:pt>
                  <c:pt idx="6">
                    <c:v>葡萄牙</c:v>
                  </c:pt>
                  <c:pt idx="7">
                    <c:v>荷蘭</c:v>
                  </c:pt>
                  <c:pt idx="8">
                    <c:v>德國</c:v>
                  </c:pt>
                  <c:pt idx="9">
                    <c:v>哥倫比亞</c:v>
                  </c:pt>
                  <c:pt idx="10">
                    <c:v>烏拉圭</c:v>
                  </c:pt>
                  <c:pt idx="11">
                    <c:v>克羅埃西亞</c:v>
                  </c:pt>
                  <c:pt idx="12">
                    <c:v>摩洛哥</c:v>
                  </c:pt>
                  <c:pt idx="13">
                    <c:v>墨西哥</c:v>
                  </c:pt>
                  <c:pt idx="14">
                    <c:v>瑞士</c:v>
                  </c:pt>
                </c:lvl>
              </c:multiLvlStrCache>
            </c:multiLvl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6.14</c:v>
                </c:pt>
                <c:pt idx="1">
                  <c:v>6.01</c:v>
                </c:pt>
                <c:pt idx="2">
                  <c:v>5.8</c:v>
                </c:pt>
                <c:pt idx="3">
                  <c:v>5.75</c:v>
                </c:pt>
                <c:pt idx="4">
                  <c:v>5.01</c:v>
                </c:pt>
                <c:pt idx="5">
                  <c:v>4.99</c:v>
                </c:pt>
                <c:pt idx="6">
                  <c:v>4.65</c:v>
                </c:pt>
                <c:pt idx="7">
                  <c:v>4.62</c:v>
                </c:pt>
                <c:pt idx="8">
                  <c:v>4.44</c:v>
                </c:pt>
                <c:pt idx="9">
                  <c:v>3.41</c:v>
                </c:pt>
                <c:pt idx="10">
                  <c:v>3.39</c:v>
                </c:pt>
                <c:pt idx="11">
                  <c:v>3.3</c:v>
                </c:pt>
                <c:pt idx="12">
                  <c:v>2.89</c:v>
                </c:pt>
                <c:pt idx="13">
                  <c:v>2.78</c:v>
                </c:pt>
                <c:pt idx="14">
                  <c:v>2.57</c:v>
                </c:pt>
              </c:numCache>
            </c:numRef>
          </c:val>
        </c:ser>
        <c:dLbls>
          <c:numFmt formatCode="0.0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1A2B5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"/>
          <c:min val="0"/>
        </c:scaling>
        <c:delete val="0"/>
        <c:axPos val="b"/>
        <c:majorGridlines>
          <c:spPr>
            <a:ln w="6350" cap="flat">
              <a:solidFill>
                <a:srgbClr val="E8E5D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B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9C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PROJECT · 2026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世界盃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457200" y="3017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勝率分析與比分預測系統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40233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F8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XGBoost · Dixon-Coles Poisson · Monte Carlo · K-Means Clustering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4754880"/>
            <a:ext cx="3200400" cy="0"/>
          </a:xfrm>
          <a:prstGeom prst="line">
            <a:avLst/>
          </a:prstGeom>
          <a:noFill/>
          <a:ln w="38100">
            <a:solidFill>
              <a:srgbClr val="F9C84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4937760"/>
            <a:ext cx="6400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9C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49,328</a:t>
            </a:r>
            <a:pPr indent="0" marL="0">
              <a:buNone/>
            </a:pPr>
            <a:r>
              <a:rPr lang="en-US" sz="1200" dirty="0">
                <a:solidFill>
                  <a:srgbClr val="FFF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場國際比賽
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9C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67,894</a:t>
            </a:r>
            <a:pPr indent="0" marL="0">
              <a:buNone/>
            </a:pPr>
            <a:r>
              <a:rPr lang="en-US" sz="1200" dirty="0">
                <a:solidFill>
                  <a:srgbClr val="FFF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筆 FIFA 排名
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9C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240</a:t>
            </a:r>
            <a:pPr indent="0" marL="0">
              <a:buNone/>
            </a:pPr>
            <a:r>
              <a:rPr lang="en-US" sz="1200" dirty="0">
                <a:solidFill>
                  <a:srgbClr val="FFF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位主將陣容資料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772400" y="57607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Jay Yeh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772400" y="612648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2026 · 期末專題報告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09728" cy="50292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114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目錄 · Agenda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13232" y="98755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個章節，從資料工程到模型驗證的完整流程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11247120" cy="0"/>
          </a:xfrm>
          <a:prstGeom prst="line">
            <a:avLst/>
          </a:prstGeom>
          <a:noFill/>
          <a:ln w="6350">
            <a:solidFill>
              <a:srgbClr val="E8E5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828800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34440" y="184708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專題背景與動機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34440" y="212140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為什麼預測世界盃？挑戰在哪？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26480" y="1828800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1" name="Text 9"/>
          <p:cNvSpPr/>
          <p:nvPr/>
        </p:nvSpPr>
        <p:spPr>
          <a:xfrm>
            <a:off x="612648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812280" y="184708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資料工程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812280" y="212140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49,328 場 + 67,894 排名 + 240 球員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2651760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2651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34440" y="267004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四層融合模型架構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234440" y="294436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+ Dixon-Coles + λ修正 + MAP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26480" y="2651760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9" name="Text 17"/>
          <p:cNvSpPr/>
          <p:nvPr/>
        </p:nvSpPr>
        <p:spPr>
          <a:xfrm>
            <a:off x="6126480" y="2651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812280" y="267004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模型驗證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812280" y="294436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Walk-Forward + 混淆矩陣 + ROC + 費雪檢定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3474720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3474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234440" y="349300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球隊風格分群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234440" y="376732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+ PCA + 攻/守/平衡 三類型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126480" y="3474720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7" name="Text 25"/>
          <p:cNvSpPr/>
          <p:nvPr/>
        </p:nvSpPr>
        <p:spPr>
          <a:xfrm>
            <a:off x="6126480" y="3474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812280" y="349300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奪冠機率預測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6812280" y="376732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 Carlo 10,000 次完整賽程模擬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8640" y="4297680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1" name="Text 29"/>
          <p:cNvSpPr/>
          <p:nvPr/>
        </p:nvSpPr>
        <p:spPr>
          <a:xfrm>
            <a:off x="548640" y="4297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234440" y="431596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技術創新與挑戰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1234440" y="459028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公式 bug 排除、平局悖論、數據校正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126480" y="4297680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5" name="Text 33"/>
          <p:cNvSpPr/>
          <p:nvPr/>
        </p:nvSpPr>
        <p:spPr>
          <a:xfrm>
            <a:off x="6126480" y="4297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812280" y="431596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結論與未來工作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6812280" y="459028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主要貢獻、系統限制、改進方向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11247120" y="6537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24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World Cup ML Prediction System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57200" y="6492240"/>
            <a:ext cx="11247120" cy="0"/>
          </a:xfrm>
          <a:prstGeom prst="line">
            <a:avLst/>
          </a:prstGeom>
          <a:noFill/>
          <a:ln w="6350">
            <a:solidFill>
              <a:srgbClr val="E8E5DD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645920" cy="27432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01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502920"/>
            <a:ext cx="109728" cy="50292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4114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為什麼選擇 2026 世界盃？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13232" y="98755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全球運動賽事預測是機器學習的經典難題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11247120" cy="0"/>
          </a:xfrm>
          <a:prstGeom prst="line">
            <a:avLst/>
          </a:prstGeom>
          <a:noFill/>
          <a:ln w="6350">
            <a:solidFill>
              <a:srgbClr val="E8E5D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28800"/>
            <a:ext cx="361188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8E5D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2194560"/>
            <a:ext cx="914400" cy="914400"/>
          </a:xfrm>
          <a:prstGeom prst="ellipse">
            <a:avLst/>
          </a:prstGeom>
          <a:solidFill>
            <a:srgbClr val="FDE0E1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1945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🌍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914400" y="329184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全球規模盛事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14400" y="379476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 隊 · 104 場比賽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累計超過 30 億觀眾收看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434840" y="1828800"/>
            <a:ext cx="361188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8E5D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00600" y="2194560"/>
            <a:ext cx="914400" cy="914400"/>
          </a:xfrm>
          <a:prstGeom prst="ellipse">
            <a:avLst/>
          </a:prstGeom>
          <a:solidFill>
            <a:srgbClr val="FDE0E1"/>
          </a:solidFill>
          <a:ln/>
        </p:spPr>
      </p:sp>
      <p:sp>
        <p:nvSpPr>
          <p:cNvPr id="15" name="Text 13"/>
          <p:cNvSpPr/>
          <p:nvPr/>
        </p:nvSpPr>
        <p:spPr>
          <a:xfrm>
            <a:off x="4800600" y="21945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🎯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4800600" y="329184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預測難度高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800600" y="379476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平局率 ~25% · 黑馬常見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商業博弈業界共同難題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321040" y="1828800"/>
            <a:ext cx="361188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8E5D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686800" y="2194560"/>
            <a:ext cx="914400" cy="914400"/>
          </a:xfrm>
          <a:prstGeom prst="ellipse">
            <a:avLst/>
          </a:prstGeom>
          <a:solidFill>
            <a:srgbClr val="FDE0E1"/>
          </a:solidFill>
          <a:ln/>
        </p:spPr>
      </p:sp>
      <p:sp>
        <p:nvSpPr>
          <p:cNvPr id="20" name="Text 18"/>
          <p:cNvSpPr/>
          <p:nvPr/>
        </p:nvSpPr>
        <p:spPr>
          <a:xfrm>
            <a:off x="8686800" y="21945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📊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8686800" y="329184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資料豐富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686800" y="379476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完整歷史比賽資料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FIFA 排名 + 球員能力公開可得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530352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1A2B5C"/>
          </a:solidFill>
          <a:ln/>
        </p:spPr>
      </p:sp>
      <p:sp>
        <p:nvSpPr>
          <p:cNvPr id="24" name="Text 22"/>
          <p:cNvSpPr/>
          <p:nvPr/>
        </p:nvSpPr>
        <p:spPr>
          <a:xfrm>
            <a:off x="822960" y="53949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C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研究目標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22960" y="57150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建立一個融合多種 ML 模型、可解釋、可重現的世界盃預測系統，並透過真實歷史數據驗證準確率優於隨機猜測 (33.3%)。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1247120" y="6537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24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World Cup ML Prediction System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" y="6492240"/>
            <a:ext cx="11247120" cy="0"/>
          </a:xfrm>
          <a:prstGeom prst="line">
            <a:avLst/>
          </a:prstGeom>
          <a:noFill/>
          <a:ln w="6350">
            <a:solidFill>
              <a:srgbClr val="E8E5DD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645920" cy="27432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01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502920"/>
            <a:ext cx="109728" cy="50292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4114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研究目標與主要貢獻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13232" y="98755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本專題的 5 大原創貢獻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11247120" cy="0"/>
          </a:xfrm>
          <a:prstGeom prst="line">
            <a:avLst/>
          </a:prstGeom>
          <a:noFill/>
          <a:ln w="6350">
            <a:solidFill>
              <a:srgbClr val="E8E5D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28800"/>
            <a:ext cx="640080" cy="640080"/>
          </a:xfrm>
          <a:prstGeom prst="rect">
            <a:avLst/>
          </a:prstGeom>
          <a:solidFill>
            <a:srgbClr val="1A2B5C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9C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71600" y="18745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四層融合模型架構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371600" y="21762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分類 + Dixon-Coles Poisson + 多因素 λ 修正 + MAP 比分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2651760"/>
            <a:ext cx="640080" cy="640080"/>
          </a:xfrm>
          <a:prstGeom prst="rect">
            <a:avLst/>
          </a:prstGeom>
          <a:solidFill>
            <a:srgbClr val="1A2B5C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651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9C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371600" y="26974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修正 Dixon-Coles 公式 bug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371600" y="299923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原公式方向反轉導致強防守隊變成被預測輸球，修正後預測一致性大幅提升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474720"/>
            <a:ext cx="640080" cy="640080"/>
          </a:xfrm>
          <a:prstGeom prst="rect">
            <a:avLst/>
          </a:prstGeom>
          <a:solidFill>
            <a:srgbClr val="1A2B5C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474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9C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371600" y="35204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對稱預測消除主場偏差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371600" y="382219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正向＋反向各預測一次取平均，符合中性場地的世界盃實際情況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4297680"/>
            <a:ext cx="640080" cy="640080"/>
          </a:xfrm>
          <a:prstGeom prst="rect">
            <a:avLst/>
          </a:prstGeom>
          <a:solidFill>
            <a:srgbClr val="1A2B5C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4297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9C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371600" y="43434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Walk-Forward 滾動驗證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371600" y="464515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 2010 → 2014 → 2018 → 2022 漸進驗證，避免資訊洩漏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5120640"/>
            <a:ext cx="640080" cy="640080"/>
          </a:xfrm>
          <a:prstGeom prst="rect">
            <a:avLst/>
          </a:prstGeom>
          <a:solidFill>
            <a:srgbClr val="1A2B5C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5120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9C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371600" y="51663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互動式 Streamlit 視覺化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371600" y="546811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頁完整應用，含 PCA 分群、Monte Carlo 模擬、費雪檢定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1247120" y="6537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24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World Cup ML Prediction System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57200" y="6492240"/>
            <a:ext cx="11247120" cy="0"/>
          </a:xfrm>
          <a:prstGeom prst="line">
            <a:avLst/>
          </a:prstGeom>
          <a:noFill/>
          <a:ln w="6350">
            <a:solidFill>
              <a:srgbClr val="E8E5DD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645920" cy="27432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02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502920"/>
            <a:ext cx="109728" cy="50292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4114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三大資料源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13232" y="98755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公開資料庫 + 自建陣容資料的混合策略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11247120" cy="0"/>
          </a:xfrm>
          <a:prstGeom prst="line">
            <a:avLst/>
          </a:prstGeom>
          <a:noFill/>
          <a:ln w="6350">
            <a:solidFill>
              <a:srgbClr val="E8E5D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28800"/>
            <a:ext cx="3611880" cy="347472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12700">
            <a:solidFill>
              <a:srgbClr val="E8E5D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194560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49,328</a:t>
            </a:r>
            <a:endParaRPr lang="en-US" sz="5600" dirty="0"/>
          </a:p>
        </p:txBody>
      </p:sp>
      <p:sp>
        <p:nvSpPr>
          <p:cNvPr id="10" name="Text 8"/>
          <p:cNvSpPr/>
          <p:nvPr/>
        </p:nvSpPr>
        <p:spPr>
          <a:xfrm>
            <a:off x="822960" y="324612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場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36576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國際足球比賽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080260" y="4114800"/>
            <a:ext cx="548640" cy="0"/>
          </a:xfrm>
          <a:prstGeom prst="line">
            <a:avLst/>
          </a:prstGeom>
          <a:noFill/>
          <a:ln w="25400">
            <a:solidFill>
              <a:srgbClr val="F9C84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425196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公開資料集</a:t>
            </a:r>
            <a:endParaRPr lang="en-US" sz="11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1872-2026 完整歷史</a:t>
            </a:r>
            <a:endParaRPr lang="en-US" sz="11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含友誼賽、資格賽、世界盃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434840" y="1828800"/>
            <a:ext cx="3611880" cy="347472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12700">
            <a:solidFill>
              <a:srgbClr val="E8E5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09160" y="2194560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67,894</a:t>
            </a:r>
            <a:endParaRPr lang="en-US" sz="5600" dirty="0"/>
          </a:p>
        </p:txBody>
      </p:sp>
      <p:sp>
        <p:nvSpPr>
          <p:cNvPr id="16" name="Text 14"/>
          <p:cNvSpPr/>
          <p:nvPr/>
        </p:nvSpPr>
        <p:spPr>
          <a:xfrm>
            <a:off x="4709160" y="324612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筆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709160" y="36576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FIFA 世界排名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966460" y="4114800"/>
            <a:ext cx="548640" cy="0"/>
          </a:xfrm>
          <a:prstGeom prst="line">
            <a:avLst/>
          </a:prstGeom>
          <a:noFill/>
          <a:ln w="25400">
            <a:solidFill>
              <a:srgbClr val="F9C84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09160" y="425196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FIFA 官方歷史月度排名</a:t>
            </a:r>
            <a:endParaRPr lang="en-US" sz="11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用於 walk-forward 驗證的時點積分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321040" y="1828800"/>
            <a:ext cx="3611880" cy="347472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12700">
            <a:solidFill>
              <a:srgbClr val="E8E5D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95360" y="2194560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240</a:t>
            </a:r>
            <a:endParaRPr lang="en-US" sz="5600" dirty="0"/>
          </a:p>
        </p:txBody>
      </p:sp>
      <p:sp>
        <p:nvSpPr>
          <p:cNvPr id="22" name="Text 20"/>
          <p:cNvSpPr/>
          <p:nvPr/>
        </p:nvSpPr>
        <p:spPr>
          <a:xfrm>
            <a:off x="8595360" y="324612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位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595360" y="36576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主將陣容資料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9852660" y="4114800"/>
            <a:ext cx="548640" cy="0"/>
          </a:xfrm>
          <a:prstGeom prst="line">
            <a:avLst/>
          </a:prstGeom>
          <a:noFill/>
          <a:ln w="25400">
            <a:solidFill>
              <a:srgbClr val="F9C84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595360" y="425196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自建 48 隊 × 5 主將</a:t>
            </a:r>
            <a:endParaRPr lang="en-US" sz="11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含 OVR / 速度 / 射門 / 傳球等 7 屬性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48640" y="56692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資料時間範圍跨越 154 年，涵蓋 235 個國家隊，是公開可得最完整的足球資料集之一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1247120" y="6537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24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World Cup ML Prediction System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57200" y="6492240"/>
            <a:ext cx="11247120" cy="0"/>
          </a:xfrm>
          <a:prstGeom prst="line">
            <a:avLst/>
          </a:prstGeom>
          <a:noFill/>
          <a:ln w="6350">
            <a:solidFill>
              <a:srgbClr val="E8E5DD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645920" cy="27432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02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502920"/>
            <a:ext cx="109728" cy="50292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4114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資料清洗與特徵工程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13232" y="98755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從原始資料到模型可用特徵的 5 步驟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11247120" cy="0"/>
          </a:xfrm>
          <a:prstGeom prst="line">
            <a:avLst/>
          </a:prstGeom>
          <a:noFill/>
          <a:ln w="6350">
            <a:solidFill>
              <a:srgbClr val="E8E5D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828800"/>
            <a:ext cx="457200" cy="45720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280160" y="1847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資料清洗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80160" y="212140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過濾缺失值 · 統一國家名稱 · 解析賽事類型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0080" y="2606040"/>
            <a:ext cx="457200" cy="45720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606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280160" y="26243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時間衰減權重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80160" y="289864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exp(-0.1 × 年數) 讓近期比賽影響更大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0080" y="3383280"/>
            <a:ext cx="457200" cy="45720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383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280160" y="34015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球隊強度計算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280160" y="367588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近 8 年加權勝率 / 進球 / 失球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0080" y="4160520"/>
            <a:ext cx="457200" cy="45720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4160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280160" y="41788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FIFA 歷史對齊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280160" y="445312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用該屆 WC 開幕前最近月份的 FIFA 積分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40080" y="4937760"/>
            <a:ext cx="457200" cy="45720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4937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280160" y="49560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特徵向量化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280160" y="523036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差值化（team1 - team2）+ 對稱性處理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400800" y="1828800"/>
            <a:ext cx="5212080" cy="393192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12700">
            <a:solidFill>
              <a:srgbClr val="E8E5D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675120" y="20116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⏰ 時間衰減權重表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675120" y="237744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7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weight = exp(-0.1 × 年數)</a:t>
            </a:r>
            <a:endParaRPr lang="en-US" sz="11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0" y="2834640"/>
          <a:ext cx="4663440" cy="2743200"/>
        </p:xfrm>
        <a:graphic>
          <a:graphicData uri="http://schemas.openxmlformats.org/drawingml/2006/table">
            <a:tbl>
              <a:tblPr/>
              <a:tblGrid>
                <a:gridCol w="1005840"/>
                <a:gridCol w="914400"/>
                <a:gridCol w="27432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2B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年數前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2B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權重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2B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意義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F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年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近一年比賽幾乎滿權重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F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年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前年/上屆 WC 仍重要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F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年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中期歷史，影響約 60%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F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年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上上屆 WC 約半權重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F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年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更久遠的影響大幅折減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F3"/>
                    </a:solidFill>
                  </a:tcPr>
                </a:tc>
              </a:tr>
            </a:tbl>
          </a:graphicData>
        </a:graphic>
      </p:graphicFrame>
      <p:sp>
        <p:nvSpPr>
          <p:cNvPr id="32" name="Text 29"/>
          <p:cNvSpPr/>
          <p:nvPr/>
        </p:nvSpPr>
        <p:spPr>
          <a:xfrm>
            <a:off x="11247120" y="6537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24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World Cup ML Prediction System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457200" y="6492240"/>
            <a:ext cx="11247120" cy="0"/>
          </a:xfrm>
          <a:prstGeom prst="line">
            <a:avLst/>
          </a:prstGeom>
          <a:noFill/>
          <a:ln w="6350">
            <a:solidFill>
              <a:srgbClr val="E8E5DD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645920" cy="27432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03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502920"/>
            <a:ext cx="109728" cy="50292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4114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四層融合模型架構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13232" y="98755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從原始特徵到最終比分預測的完整流程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11247120" cy="0"/>
          </a:xfrm>
          <a:prstGeom prst="line">
            <a:avLst/>
          </a:prstGeom>
          <a:noFill/>
          <a:ln w="6350">
            <a:solidFill>
              <a:srgbClr val="E8E5D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011680"/>
            <a:ext cx="2606040" cy="274320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8E5D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011680"/>
            <a:ext cx="2606040" cy="731520"/>
          </a:xfrm>
          <a:prstGeom prst="roundRect">
            <a:avLst>
              <a:gd name="adj" fmla="val 10000"/>
            </a:avLst>
          </a:prstGeom>
          <a:solidFill>
            <a:srgbClr val="1A2B5C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2468880"/>
            <a:ext cx="2606040" cy="274320"/>
          </a:xfrm>
          <a:prstGeom prst="rect">
            <a:avLst/>
          </a:prstGeom>
          <a:solidFill>
            <a:srgbClr val="1A2B5C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10312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9C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2395728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7200" y="292608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457200" y="3794760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外層融合權重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40080" y="411480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勝/平/負三向分類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 rot="5400000">
            <a:off x="3067812" y="3291840"/>
            <a:ext cx="128016" cy="164592"/>
          </a:xfrm>
          <a:prstGeom prst="rtTriangle">
            <a:avLst/>
          </a:prstGeom>
          <a:solidFill>
            <a:srgbClr val="F96167"/>
          </a:solidFill>
          <a:ln/>
        </p:spPr>
      </p:sp>
      <p:sp>
        <p:nvSpPr>
          <p:cNvPr id="17" name="Shape 15"/>
          <p:cNvSpPr/>
          <p:nvPr/>
        </p:nvSpPr>
        <p:spPr>
          <a:xfrm>
            <a:off x="3200400" y="2011680"/>
            <a:ext cx="2606040" cy="274320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8E5D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0" y="2011680"/>
            <a:ext cx="2606040" cy="731520"/>
          </a:xfrm>
          <a:prstGeom prst="roundRect">
            <a:avLst>
              <a:gd name="adj" fmla="val 10000"/>
            </a:avLst>
          </a:prstGeom>
          <a:solidFill>
            <a:srgbClr val="1A2B5C"/>
          </a:solidFill>
          <a:ln/>
        </p:spPr>
      </p:sp>
      <p:sp>
        <p:nvSpPr>
          <p:cNvPr id="19" name="Shape 17"/>
          <p:cNvSpPr/>
          <p:nvPr/>
        </p:nvSpPr>
        <p:spPr>
          <a:xfrm>
            <a:off x="3200400" y="2468880"/>
            <a:ext cx="2606040" cy="274320"/>
          </a:xfrm>
          <a:prstGeom prst="rect">
            <a:avLst/>
          </a:prstGeom>
          <a:solidFill>
            <a:srgbClr val="1A2B5C"/>
          </a:solidFill>
          <a:ln/>
        </p:spPr>
      </p:sp>
      <p:sp>
        <p:nvSpPr>
          <p:cNvPr id="20" name="Text 18"/>
          <p:cNvSpPr/>
          <p:nvPr/>
        </p:nvSpPr>
        <p:spPr>
          <a:xfrm>
            <a:off x="3200400" y="210312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9C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200400" y="2395728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Dixon-Coles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3200400" y="292608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4800" dirty="0"/>
          </a:p>
        </p:txBody>
      </p:sp>
      <p:sp>
        <p:nvSpPr>
          <p:cNvPr id="23" name="Text 21"/>
          <p:cNvSpPr/>
          <p:nvPr/>
        </p:nvSpPr>
        <p:spPr>
          <a:xfrm>
            <a:off x="3200400" y="3794760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外層融合權重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383280" y="411480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Poisson 期望進球 λ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 rot="5400000">
            <a:off x="5811012" y="3291840"/>
            <a:ext cx="128016" cy="164592"/>
          </a:xfrm>
          <a:prstGeom prst="rtTriangle">
            <a:avLst/>
          </a:prstGeom>
          <a:solidFill>
            <a:srgbClr val="F96167"/>
          </a:solidFill>
          <a:ln/>
        </p:spPr>
      </p:sp>
      <p:sp>
        <p:nvSpPr>
          <p:cNvPr id="26" name="Shape 24"/>
          <p:cNvSpPr/>
          <p:nvPr/>
        </p:nvSpPr>
        <p:spPr>
          <a:xfrm>
            <a:off x="5943600" y="2011680"/>
            <a:ext cx="2606040" cy="274320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8E5D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943600" y="2011680"/>
            <a:ext cx="2606040" cy="731520"/>
          </a:xfrm>
          <a:prstGeom prst="roundRect">
            <a:avLst>
              <a:gd name="adj" fmla="val 10000"/>
            </a:avLst>
          </a:prstGeom>
          <a:solidFill>
            <a:srgbClr val="1A2B5C"/>
          </a:solidFill>
          <a:ln/>
        </p:spPr>
      </p:sp>
      <p:sp>
        <p:nvSpPr>
          <p:cNvPr id="28" name="Shape 26"/>
          <p:cNvSpPr/>
          <p:nvPr/>
        </p:nvSpPr>
        <p:spPr>
          <a:xfrm>
            <a:off x="5943600" y="2468880"/>
            <a:ext cx="2606040" cy="274320"/>
          </a:xfrm>
          <a:prstGeom prst="rect">
            <a:avLst/>
          </a:prstGeom>
          <a:solidFill>
            <a:srgbClr val="1A2B5C"/>
          </a:solidFill>
          <a:ln/>
        </p:spPr>
      </p:sp>
      <p:sp>
        <p:nvSpPr>
          <p:cNvPr id="29" name="Text 27"/>
          <p:cNvSpPr/>
          <p:nvPr/>
        </p:nvSpPr>
        <p:spPr>
          <a:xfrm>
            <a:off x="5943600" y="210312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9C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943600" y="2395728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 多因素修正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5943600" y="292608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4800" dirty="0"/>
          </a:p>
        </p:txBody>
      </p:sp>
      <p:sp>
        <p:nvSpPr>
          <p:cNvPr id="32" name="Text 30"/>
          <p:cNvSpPr/>
          <p:nvPr/>
        </p:nvSpPr>
        <p:spPr>
          <a:xfrm>
            <a:off x="5943600" y="3794760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外層融合權重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126480" y="411480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主將 + FIFA + 狀態 + 經驗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 rot="5400000">
            <a:off x="8554212" y="3291840"/>
            <a:ext cx="128016" cy="164592"/>
          </a:xfrm>
          <a:prstGeom prst="rtTriangle">
            <a:avLst/>
          </a:prstGeom>
          <a:solidFill>
            <a:srgbClr val="F96167"/>
          </a:solidFill>
          <a:ln/>
        </p:spPr>
      </p:sp>
      <p:sp>
        <p:nvSpPr>
          <p:cNvPr id="35" name="Shape 33"/>
          <p:cNvSpPr/>
          <p:nvPr/>
        </p:nvSpPr>
        <p:spPr>
          <a:xfrm>
            <a:off x="8686800" y="2011680"/>
            <a:ext cx="2606040" cy="274320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8E5DD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686800" y="2011680"/>
            <a:ext cx="2606040" cy="731520"/>
          </a:xfrm>
          <a:prstGeom prst="roundRect">
            <a:avLst>
              <a:gd name="adj" fmla="val 10000"/>
            </a:avLst>
          </a:prstGeom>
          <a:solidFill>
            <a:srgbClr val="1A2B5C"/>
          </a:solidFill>
          <a:ln/>
        </p:spPr>
      </p:sp>
      <p:sp>
        <p:nvSpPr>
          <p:cNvPr id="37" name="Shape 35"/>
          <p:cNvSpPr/>
          <p:nvPr/>
        </p:nvSpPr>
        <p:spPr>
          <a:xfrm>
            <a:off x="8686800" y="2468880"/>
            <a:ext cx="2606040" cy="274320"/>
          </a:xfrm>
          <a:prstGeom prst="rect">
            <a:avLst/>
          </a:prstGeom>
          <a:solidFill>
            <a:srgbClr val="1A2B5C"/>
          </a:solidFill>
          <a:ln/>
        </p:spPr>
      </p:sp>
      <p:sp>
        <p:nvSpPr>
          <p:cNvPr id="38" name="Text 36"/>
          <p:cNvSpPr/>
          <p:nvPr/>
        </p:nvSpPr>
        <p:spPr>
          <a:xfrm>
            <a:off x="8686800" y="210312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9C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4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8686800" y="2395728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+ MC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8686800" y="292608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4800" dirty="0"/>
          </a:p>
        </p:txBody>
      </p:sp>
      <p:sp>
        <p:nvSpPr>
          <p:cNvPr id="41" name="Text 39"/>
          <p:cNvSpPr/>
          <p:nvPr/>
        </p:nvSpPr>
        <p:spPr>
          <a:xfrm>
            <a:off x="8686800" y="3794760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外層融合權重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8869680" y="411480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比分預測 + 10K 次模擬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57200" y="5212080"/>
            <a:ext cx="11247120" cy="1097280"/>
          </a:xfrm>
          <a:prstGeom prst="roundRect">
            <a:avLst>
              <a:gd name="adj" fmla="val 6667"/>
            </a:avLst>
          </a:prstGeom>
          <a:solidFill>
            <a:srgbClr val="1A2B5C"/>
          </a:solidFill>
          <a:ln/>
        </p:spPr>
      </p:sp>
      <p:sp>
        <p:nvSpPr>
          <p:cNvPr id="44" name="Text 42"/>
          <p:cNvSpPr/>
          <p:nvPr/>
        </p:nvSpPr>
        <p:spPr>
          <a:xfrm>
            <a:off x="731520" y="5303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C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最終機率公式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731520" y="56235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P(勝/平/負) = 0.20 × XGBoost + 0.80 × Poisson(λ)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731520" y="5989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8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λ = λ_DC × rank_factor × squad_factor × form_factor × experience_factor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11247120" y="6537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24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World Cup ML Prediction System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57200" y="6492240"/>
            <a:ext cx="11247120" cy="0"/>
          </a:xfrm>
          <a:prstGeom prst="line">
            <a:avLst/>
          </a:prstGeom>
          <a:noFill/>
          <a:ln w="6350">
            <a:solidFill>
              <a:srgbClr val="E8E5DD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645920" cy="27432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03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502920"/>
            <a:ext cx="109728" cy="50292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4114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1：XGBoost 分類器（20%）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13232" y="98755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勝/平/負三向機率分類 · Walk-Forward 訓練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11247120" cy="0"/>
          </a:xfrm>
          <a:prstGeom prst="line">
            <a:avLst/>
          </a:prstGeom>
          <a:noFill/>
          <a:ln w="6350">
            <a:solidFill>
              <a:srgbClr val="E8E5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8288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核心角色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2240280"/>
            <a:ext cx="5486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直接輸出 P(勝) / P(平) / P(負) 三向機率
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棵樹 · max_depth = 4 · learning_rate = 0.05
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正向＋反向各預測一次取平均 → 消除主場偏差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3749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輸入特徵（11 維）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4206240"/>
            <a:ext cx="1737360" cy="320040"/>
          </a:xfrm>
          <a:prstGeom prst="roundRect">
            <a:avLst>
              <a:gd name="adj" fmla="val 14286"/>
            </a:avLst>
          </a:prstGeom>
          <a:solidFill>
            <a:srgbClr val="FDE0E1"/>
          </a:solidFill>
          <a:ln w="6350">
            <a:solidFill>
              <a:srgbClr val="F9616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42062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B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pts_diff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377440" y="4206240"/>
            <a:ext cx="1737360" cy="320040"/>
          </a:xfrm>
          <a:prstGeom prst="roundRect">
            <a:avLst>
              <a:gd name="adj" fmla="val 14286"/>
            </a:avLst>
          </a:prstGeom>
          <a:solidFill>
            <a:srgbClr val="FDE0E1"/>
          </a:solidFill>
          <a:ln w="6350">
            <a:solidFill>
              <a:srgbClr val="F9616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377440" y="42062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B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rank_diff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206240" y="4206240"/>
            <a:ext cx="1737360" cy="320040"/>
          </a:xfrm>
          <a:prstGeom prst="roundRect">
            <a:avLst>
              <a:gd name="adj" fmla="val 14286"/>
            </a:avLst>
          </a:prstGeom>
          <a:solidFill>
            <a:srgbClr val="FDE0E1"/>
          </a:solidFill>
          <a:ln w="6350">
            <a:solidFill>
              <a:srgbClr val="F9616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06240" y="42062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B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win_rate_diff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4617720"/>
            <a:ext cx="1737360" cy="320040"/>
          </a:xfrm>
          <a:prstGeom prst="roundRect">
            <a:avLst>
              <a:gd name="adj" fmla="val 14286"/>
            </a:avLst>
          </a:prstGeom>
          <a:solidFill>
            <a:srgbClr val="FDE0E1"/>
          </a:solidFill>
          <a:ln w="6350">
            <a:solidFill>
              <a:srgbClr val="F9616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46177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B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avg_goals_diff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377440" y="4617720"/>
            <a:ext cx="1737360" cy="320040"/>
          </a:xfrm>
          <a:prstGeom prst="roundRect">
            <a:avLst>
              <a:gd name="adj" fmla="val 14286"/>
            </a:avLst>
          </a:prstGeom>
          <a:solidFill>
            <a:srgbClr val="FDE0E1"/>
          </a:solidFill>
          <a:ln w="6350">
            <a:solidFill>
              <a:srgbClr val="F9616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377440" y="46177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B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defense_diff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206240" y="4617720"/>
            <a:ext cx="1737360" cy="320040"/>
          </a:xfrm>
          <a:prstGeom prst="roundRect">
            <a:avLst>
              <a:gd name="adj" fmla="val 14286"/>
            </a:avLst>
          </a:prstGeom>
          <a:solidFill>
            <a:srgbClr val="FDE0E1"/>
          </a:solidFill>
          <a:ln w="6350">
            <a:solidFill>
              <a:srgbClr val="F9616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06240" y="46177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B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form_diff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48640" y="5029200"/>
            <a:ext cx="1737360" cy="320040"/>
          </a:xfrm>
          <a:prstGeom prst="roundRect">
            <a:avLst>
              <a:gd name="adj" fmla="val 14286"/>
            </a:avLst>
          </a:prstGeom>
          <a:solidFill>
            <a:srgbClr val="FDE0E1"/>
          </a:solidFill>
          <a:ln w="6350">
            <a:solidFill>
              <a:srgbClr val="F9616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50292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B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experience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377440" y="5029200"/>
            <a:ext cx="1737360" cy="320040"/>
          </a:xfrm>
          <a:prstGeom prst="roundRect">
            <a:avLst>
              <a:gd name="adj" fmla="val 14286"/>
            </a:avLst>
          </a:prstGeom>
          <a:solidFill>
            <a:srgbClr val="FDE0E1"/>
          </a:solidFill>
          <a:ln w="6350">
            <a:solidFill>
              <a:srgbClr val="F9616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77440" y="50292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B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goals_product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206240" y="5029200"/>
            <a:ext cx="1737360" cy="320040"/>
          </a:xfrm>
          <a:prstGeom prst="roundRect">
            <a:avLst>
              <a:gd name="adj" fmla="val 14286"/>
            </a:avLst>
          </a:prstGeom>
          <a:solidFill>
            <a:srgbClr val="FDE0E1"/>
          </a:solidFill>
          <a:ln w="6350">
            <a:solidFill>
              <a:srgbClr val="F9616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206240" y="50292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B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confed_bonus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48640" y="5440680"/>
            <a:ext cx="1737360" cy="320040"/>
          </a:xfrm>
          <a:prstGeom prst="roundRect">
            <a:avLst>
              <a:gd name="adj" fmla="val 14286"/>
            </a:avLst>
          </a:prstGeom>
          <a:solidFill>
            <a:srgbClr val="FDE0E1"/>
          </a:solidFill>
          <a:ln w="6350">
            <a:solidFill>
              <a:srgbClr val="F9616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54406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B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recent_form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377440" y="5440680"/>
            <a:ext cx="1737360" cy="320040"/>
          </a:xfrm>
          <a:prstGeom prst="roundRect">
            <a:avLst>
              <a:gd name="adj" fmla="val 14286"/>
            </a:avLst>
          </a:prstGeom>
          <a:solidFill>
            <a:srgbClr val="FDE0E1"/>
          </a:solidFill>
          <a:ln w="6350">
            <a:solidFill>
              <a:srgbClr val="F9616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377440" y="54406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B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knockout_exp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400800" y="1828800"/>
            <a:ext cx="5212080" cy="41148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E8E5D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675120" y="20116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Walk-Forward 訓練流程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675120" y="25603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訓練 1990-2009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8503920" y="25603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96167"/>
                </a:solidFill>
              </a:rPr>
              <a:t>→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8778240" y="25603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驗證 WC 2010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0241280" y="25603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F8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53.3%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675120" y="30632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訓練 1990-2013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8503920" y="306324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96167"/>
                </a:solidFill>
              </a:rPr>
              <a:t>→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8778240" y="30632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驗證 WC 2014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10241280" y="30632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F8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48.4%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6675120" y="35661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訓練 1990-2017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8503920" y="356616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96167"/>
                </a:solidFill>
              </a:rPr>
              <a:t>→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8778240" y="35661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驗證 WC 2018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10241280" y="35661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F8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50.0%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6675120" y="40690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訓練 1990-2021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8503920" y="406908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96167"/>
                </a:solidFill>
              </a:rPr>
              <a:t>→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8778240" y="40690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驗證 WC 2022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10241280" y="40690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F8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56.2%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6675120" y="4709160"/>
            <a:ext cx="4663440" cy="0"/>
          </a:xfrm>
          <a:prstGeom prst="line">
            <a:avLst/>
          </a:prstGeom>
          <a:noFill/>
          <a:ln w="12700">
            <a:solidFill>
              <a:srgbClr val="E8E5DD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675120" y="4846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平均驗證準確率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9144000" y="47548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52.0%</a:t>
            </a:r>
            <a:endParaRPr lang="en-US" sz="2800" dirty="0"/>
          </a:p>
        </p:txBody>
      </p:sp>
      <p:sp>
        <p:nvSpPr>
          <p:cNvPr id="54" name="Text 52"/>
          <p:cNvSpPr/>
          <p:nvPr/>
        </p:nvSpPr>
        <p:spPr>
          <a:xfrm>
            <a:off x="6675120" y="534924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F8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隨機猜測 33.3% · 提升 +18.7%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11247120" y="6537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24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World Cup ML Prediction System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457200" y="6492240"/>
            <a:ext cx="11247120" cy="0"/>
          </a:xfrm>
          <a:prstGeom prst="line">
            <a:avLst/>
          </a:prstGeom>
          <a:noFill/>
          <a:ln w="6350">
            <a:solidFill>
              <a:srgbClr val="E8E5DD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645920" cy="27432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03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502920"/>
            <a:ext cx="109728" cy="50292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4114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2：Dixon-Coles Poisson（80%）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13232" y="98755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從攻防強度推導期望進球，再積分出 W/D/L 機率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11247120" cy="0"/>
          </a:xfrm>
          <a:prstGeom prst="line">
            <a:avLst/>
          </a:prstGeom>
          <a:noFill/>
          <a:ln w="6350">
            <a:solidFill>
              <a:srgbClr val="E8E5D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28800"/>
            <a:ext cx="11064240" cy="1371600"/>
          </a:xfrm>
          <a:prstGeom prst="roundRect">
            <a:avLst>
              <a:gd name="adj" fmla="val 6667"/>
            </a:avLst>
          </a:prstGeom>
          <a:solidFill>
            <a:srgbClr val="1A2B5C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1965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9C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核心公式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228600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λ_A = atk_A × vul_B / μ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822960" y="2880360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F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atk_A: A 隊進攻強度 · vul_B: B 隊防守脆弱度 · μ: 國際賽進球均值 (1.35)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566160"/>
            <a:ext cx="35204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8E5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370332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atk (進攻強度)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31520" y="406908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raw_goals × cs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31520" y="448056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弱聯盟進攻打折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206240" y="3566160"/>
            <a:ext cx="35204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8E5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0" y="370332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 (防守脆弱度)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389120" y="406908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raw_conceded ÷ √cs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389120" y="448056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弱聯盟防守實際更弱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863840" y="3566160"/>
            <a:ext cx="35204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8E5D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46720" y="370332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(足聯品質係數)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046720" y="406908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0.72 ~ 1.00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046720" y="448056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OFC 0.72 → CONMEBOL 1.00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5212080"/>
            <a:ext cx="11064240" cy="1097280"/>
          </a:xfrm>
          <a:prstGeom prst="roundRect">
            <a:avLst>
              <a:gd name="adj" fmla="val 6667"/>
            </a:avLst>
          </a:prstGeom>
          <a:solidFill>
            <a:srgbClr val="FDE9A8"/>
          </a:solidFill>
          <a:ln w="12700">
            <a:solidFill>
              <a:srgbClr val="F9C84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7240" y="53492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 從 λ 計算 W/D/L 機率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77240" y="56692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P(W) = Σ Poisson(g₁ | λ_A) × Poisson(g₂ | λ_B)   其中 g₁ &gt; g₂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77240" y="598932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枚舉 0~7 進球範圍涵蓋 99.9%+ 機率，即可得勝/平/負完整分布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1247120" y="6537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24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World Cup ML Prediction System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57200" y="6492240"/>
            <a:ext cx="11247120" cy="0"/>
          </a:xfrm>
          <a:prstGeom prst="line">
            <a:avLst/>
          </a:prstGeom>
          <a:noFill/>
          <a:ln w="6350">
            <a:solidFill>
              <a:srgbClr val="E8E5DD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645920" cy="27432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03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502920"/>
            <a:ext cx="109728" cy="50292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4114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3：λ 多因素複合修正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13232" y="98755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在純 DC 基礎上疊加 4 個現實因子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11247120" cy="0"/>
          </a:xfrm>
          <a:prstGeom prst="line">
            <a:avLst/>
          </a:prstGeom>
          <a:noFill/>
          <a:ln w="6350">
            <a:solidFill>
              <a:srgbClr val="E8E5D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28800"/>
            <a:ext cx="11064240" cy="822960"/>
          </a:xfrm>
          <a:prstGeom prst="roundRect">
            <a:avLst>
              <a:gd name="adj" fmla="val 8889"/>
            </a:avLst>
          </a:prstGeom>
          <a:solidFill>
            <a:srgbClr val="1A2B5C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92024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λ_final = λ_DC × rank_factor × squad_factor × form_factor × experience_factor</a:t>
            </a:r>
            <a:endParaRPr lang="en-US" sz="17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834640"/>
          <a:ext cx="11064240" cy="2286000"/>
        </p:xfrm>
        <a:graphic>
          <a:graphicData uri="http://schemas.openxmlformats.org/drawingml/2006/table">
            <a:tbl>
              <a:tblPr/>
              <a:tblGrid>
                <a:gridCol w="2286000"/>
                <a:gridCol w="3474720"/>
                <a:gridCol w="1188720"/>
                <a:gridCol w="41148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因素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公式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次方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意義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5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🥇 主將 OVR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9616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(ovr₁ / ovr₂)^0.35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961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陣容明星密度（權重最大）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🥈 FIFA 積分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9616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((p₁+300)/(p₂+300))^0.22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961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歷史排名差距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🥉 近 2 年勝率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9616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((f₁+0.3)/(f₂+0.3))^0.18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961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球隊近期狀態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🏅 淘汰賽經驗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9616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((e₁+10)/(e₂+10))^0.08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961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大賽 DNA（影響最小）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548640" y="534924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EF1C9"/>
          </a:solidFill>
          <a:ln w="12700">
            <a:solidFill>
              <a:srgbClr val="F9C84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77240" y="54406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範例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77240" y="571500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主將平均 OVR 85 vs 79：squad_factor = (85/79)^0.35 ≈ 1.027 → λ 提升 2.7%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11247120" y="6537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24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World Cup ML Prediction System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457200" y="6492240"/>
            <a:ext cx="11247120" cy="0"/>
          </a:xfrm>
          <a:prstGeom prst="line">
            <a:avLst/>
          </a:prstGeom>
          <a:noFill/>
          <a:ln w="6350">
            <a:solidFill>
              <a:srgbClr val="E8E5DD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645920" cy="27432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03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502920"/>
            <a:ext cx="109728" cy="50292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4114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4：MAP 比分 + Monte Carlo 模擬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13232" y="98755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從機率到具體比分，再到完整賽程模擬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11247120" cy="0"/>
          </a:xfrm>
          <a:prstGeom prst="line">
            <a:avLst/>
          </a:prstGeom>
          <a:noFill/>
          <a:ln w="6350">
            <a:solidFill>
              <a:srgbClr val="E8E5D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28800"/>
            <a:ext cx="5486400" cy="4389120"/>
          </a:xfrm>
          <a:prstGeom prst="roundRect">
            <a:avLst>
              <a:gd name="adj" fmla="val 2083"/>
            </a:avLst>
          </a:prstGeom>
          <a:solidFill>
            <a:srgbClr val="FFFFFF"/>
          </a:solidFill>
          <a:ln w="12700">
            <a:solidFill>
              <a:srgbClr val="E8E5D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0116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MAP 最高機率比分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23774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A Posteriori — 找出機率分布中最高的單一比分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22960" y="2926080"/>
            <a:ext cx="365760" cy="36576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2926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280160" y="297180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依融合機率 argmax(W,D,L) 取主預測方向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22960" y="3520440"/>
            <a:ext cx="365760" cy="36576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3520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280160" y="356616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在該方向 cells 中找最高 Poisson 機率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22960" y="4114800"/>
            <a:ext cx="365760" cy="36576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4114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280160" y="416052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標記為預測比分 + ★ 顯示在矩陣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22960" y="4937760"/>
            <a:ext cx="4937760" cy="1097280"/>
          </a:xfrm>
          <a:prstGeom prst="roundRect">
            <a:avLst>
              <a:gd name="adj" fmla="val 4167"/>
            </a:avLst>
          </a:prstGeom>
          <a:solidFill>
            <a:srgbClr val="E4ECE5"/>
          </a:solidFill>
          <a:ln w="12700">
            <a:solidFill>
              <a:srgbClr val="5F846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05840" y="5029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F8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解決平局悖論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05840" y="534924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確保預測比分方向永遠與機率方向一致，避免「平局機率 20%卻每場都被預測平局」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217920" y="1828800"/>
            <a:ext cx="5486400" cy="4389120"/>
          </a:xfrm>
          <a:prstGeom prst="roundRect">
            <a:avLst>
              <a:gd name="adj" fmla="val 2083"/>
            </a:avLst>
          </a:prstGeom>
          <a:solidFill>
            <a:srgbClr val="FFFFFF"/>
          </a:solidFill>
          <a:ln w="12700">
            <a:solidFill>
              <a:srgbClr val="E8E5D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92240" y="20116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🎲 Monte Carlo 賽程模擬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492240" y="23774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 次完整賽程模擬，統計奪冠機率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92240" y="2926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6167"/>
                </a:solidFill>
              </a:rPr>
              <a:t>▶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766560" y="292608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組小組賽 → 各組前 2 出線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492240" y="33375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6167"/>
                </a:solidFill>
              </a:rPr>
              <a:t>▶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766560" y="333756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個最佳第 3 名晉級 → 32 強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492240" y="37490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6167"/>
                </a:solidFill>
              </a:rPr>
              <a:t>▶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766560" y="374904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R32 → R16 → QF → SF → Final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492240" y="4160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6167"/>
                </a:solidFill>
              </a:rPr>
              <a:t>▶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766560" y="416052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累計奪冠次數 / 10,000 = 奪冠機率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492240" y="4754880"/>
            <a:ext cx="4937760" cy="1325880"/>
          </a:xfrm>
          <a:prstGeom prst="roundRect">
            <a:avLst>
              <a:gd name="adj" fmla="val 3448"/>
            </a:avLst>
          </a:prstGeom>
          <a:solidFill>
            <a:srgbClr val="FDD8D9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92240" y="484632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</a:t>
            </a:r>
            <a:endParaRPr lang="en-US" sz="3600" dirty="0"/>
          </a:p>
        </p:txBody>
      </p:sp>
      <p:sp>
        <p:nvSpPr>
          <p:cNvPr id="36" name="Text 34"/>
          <p:cNvSpPr/>
          <p:nvPr/>
        </p:nvSpPr>
        <p:spPr>
          <a:xfrm>
            <a:off x="6492240" y="54406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次模擬 · 約 1,040,000 場虛擬比賽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492240" y="57150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（每次完整賽程 = 104 場）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1247120" y="6537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24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World Cup ML Prediction System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57200" y="6492240"/>
            <a:ext cx="11247120" cy="0"/>
          </a:xfrm>
          <a:prstGeom prst="line">
            <a:avLst/>
          </a:prstGeom>
          <a:noFill/>
          <a:ln w="6350">
            <a:solidFill>
              <a:srgbClr val="E8E5DD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645920" cy="27432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04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502920"/>
            <a:ext cx="109728" cy="50292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4114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Walk-Forward 滾動驗證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13232" y="98755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用時間順序模擬「過去訓練、未來預測」的真實場景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11247120" cy="0"/>
          </a:xfrm>
          <a:prstGeom prst="line">
            <a:avLst/>
          </a:prstGeom>
          <a:noFill/>
          <a:ln w="6350">
            <a:solidFill>
              <a:srgbClr val="E8E5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8288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為什麼需要 Walk-Forward？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21945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傳統 train/test split 會「未來看到過去」造成資料洩漏。Walk-Forward 保證每一輪驗證時模型只看得到該時點之前的資料，符合實際預測場景。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200400"/>
            <a:ext cx="6858000" cy="457200"/>
          </a:xfrm>
          <a:prstGeom prst="rect">
            <a:avLst/>
          </a:prstGeom>
          <a:solidFill>
            <a:srgbClr val="7A859E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20040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訓練 1990-2009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452360" y="3200400"/>
            <a:ext cx="1828800" cy="45720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3" name="Text 11"/>
          <p:cNvSpPr/>
          <p:nvPr/>
        </p:nvSpPr>
        <p:spPr>
          <a:xfrm>
            <a:off x="7452360" y="32004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驗證 WC 2010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601200" y="32004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F8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53.3%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972800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48640" y="3840480"/>
            <a:ext cx="6858000" cy="457200"/>
          </a:xfrm>
          <a:prstGeom prst="rect">
            <a:avLst/>
          </a:prstGeom>
          <a:solidFill>
            <a:srgbClr val="7A859E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84048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訓練 1990-2013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452360" y="3840480"/>
            <a:ext cx="1828800" cy="45720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9" name="Text 17"/>
          <p:cNvSpPr/>
          <p:nvPr/>
        </p:nvSpPr>
        <p:spPr>
          <a:xfrm>
            <a:off x="7452360" y="38404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驗證 WC 2014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601200" y="38404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F8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48.4%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097280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48640" y="4480560"/>
            <a:ext cx="6858000" cy="457200"/>
          </a:xfrm>
          <a:prstGeom prst="rect">
            <a:avLst/>
          </a:prstGeom>
          <a:solidFill>
            <a:srgbClr val="7A859E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448056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訓練 1990-2017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452360" y="4480560"/>
            <a:ext cx="1828800" cy="45720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25" name="Text 23"/>
          <p:cNvSpPr/>
          <p:nvPr/>
        </p:nvSpPr>
        <p:spPr>
          <a:xfrm>
            <a:off x="7452360" y="44805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驗證 WC 2018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601200" y="44805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F8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50.0%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0972800" y="4480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8640" y="5120640"/>
            <a:ext cx="6858000" cy="457200"/>
          </a:xfrm>
          <a:prstGeom prst="rect">
            <a:avLst/>
          </a:prstGeom>
          <a:solidFill>
            <a:srgbClr val="7A859E"/>
          </a:solidFill>
          <a:ln/>
        </p:spPr>
      </p:sp>
      <p:sp>
        <p:nvSpPr>
          <p:cNvPr id="29" name="Text 27"/>
          <p:cNvSpPr/>
          <p:nvPr/>
        </p:nvSpPr>
        <p:spPr>
          <a:xfrm>
            <a:off x="548640" y="512064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訓練 1990-2021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452360" y="5120640"/>
            <a:ext cx="1828800" cy="45720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1" name="Text 29"/>
          <p:cNvSpPr/>
          <p:nvPr/>
        </p:nvSpPr>
        <p:spPr>
          <a:xfrm>
            <a:off x="7452360" y="51206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驗證 WC 2022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601200" y="51206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F8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56.2%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10972800" y="5120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48640" y="5852160"/>
            <a:ext cx="11064240" cy="548640"/>
          </a:xfrm>
          <a:prstGeom prst="roundRect">
            <a:avLst>
              <a:gd name="adj" fmla="val 8333"/>
            </a:avLst>
          </a:prstGeom>
          <a:solidFill>
            <a:srgbClr val="E4ECE5"/>
          </a:solidFill>
          <a:ln w="12700">
            <a:solidFill>
              <a:srgbClr val="5F846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77240" y="585216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F8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平均驗證準確率 </a:t>
            </a:r>
            <a:pPr indent="0" marL="0">
              <a:buNone/>
            </a:pPr>
            <a:r>
              <a:rPr lang="en-US" sz="1800" b="1" dirty="0">
                <a:solidFill>
                  <a:srgbClr val="5F8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52.0%</a:t>
            </a:r>
            <a:pPr indent="0" marL="0">
              <a:buNone/>
            </a:pPr>
            <a:r>
              <a:rPr lang="en-US" sz="120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vs 隨機猜測基準 33.3%    →    </a:t>
            </a:r>
            <a:pPr indent="0" marL="0">
              <a:buNone/>
            </a:pPr>
            <a:r>
              <a:rPr lang="en-US" sz="1200" b="1" dirty="0">
                <a:solidFill>
                  <a:srgbClr val="1A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顯著優於隨機 +18.7 個百分點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11247120" y="6537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24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World Cup ML Prediction System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57200" y="6492240"/>
            <a:ext cx="11247120" cy="0"/>
          </a:xfrm>
          <a:prstGeom prst="line">
            <a:avLst/>
          </a:prstGeom>
          <a:noFill/>
          <a:ln w="6350">
            <a:solidFill>
              <a:srgbClr val="E8E5DD"/>
            </a:solidFill>
            <a:prstDash val="solid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645920" cy="27432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04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502920"/>
            <a:ext cx="109728" cy="50292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4114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混淆矩陣：模型每個類別的表現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13232" y="98755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 2022 卡達世界盃 64 場小組賽當測試集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11247120" cy="0"/>
          </a:xfrm>
          <a:prstGeom prst="line">
            <a:avLst/>
          </a:prstGeom>
          <a:noFill/>
          <a:ln w="6350">
            <a:solidFill>
              <a:srgbClr val="E8E5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8288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混淆矩陣（2022 WC · 64 場）</a:t>
            </a:r>
            <a:endParaRPr lang="en-US" sz="14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286000"/>
          <a:ext cx="5669280" cy="3291840"/>
        </p:xfrm>
        <a:graphic>
          <a:graphicData uri="http://schemas.openxmlformats.org/drawingml/2006/table">
            <a:tbl>
              <a:tblPr/>
              <a:tblGrid>
                <a:gridCol w="1280160"/>
                <a:gridCol w="1463040"/>
                <a:gridCol w="1463040"/>
                <a:gridCol w="1463040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預測：負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預測：平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預測：勝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5C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實際：負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F846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實際：平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5B09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實際：勝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F8466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6583680" y="1828800"/>
            <a:ext cx="502920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5F846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766560" y="19659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主隊勝 Recall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766560" y="23317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5F8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79%</a:t>
            </a:r>
            <a:endParaRPr lang="en-US" sz="3600" dirty="0"/>
          </a:p>
        </p:txBody>
      </p:sp>
      <p:sp>
        <p:nvSpPr>
          <p:cNvPr id="13" name="Text 10"/>
          <p:cNvSpPr/>
          <p:nvPr/>
        </p:nvSpPr>
        <p:spPr>
          <a:xfrm>
            <a:off x="10058400" y="214884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強隊優勢明顯易預測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6583680" y="3200400"/>
            <a:ext cx="502920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F9C84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766560" y="33375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主隊負 Recall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766560" y="37033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9C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57%</a:t>
            </a:r>
            <a:endParaRPr lang="en-US" sz="3600" dirty="0"/>
          </a:p>
        </p:txBody>
      </p:sp>
      <p:sp>
        <p:nvSpPr>
          <p:cNvPr id="17" name="Text 14"/>
          <p:cNvSpPr/>
          <p:nvPr/>
        </p:nvSpPr>
        <p:spPr>
          <a:xfrm>
            <a:off x="10058400" y="352044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弱隊輸球可預期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6583680" y="4572000"/>
            <a:ext cx="502920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F9616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766560" y="47091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平局 Recall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6766560" y="50749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7%</a:t>
            </a:r>
            <a:endParaRPr lang="en-US" sz="3600" dirty="0"/>
          </a:p>
        </p:txBody>
      </p:sp>
      <p:sp>
        <p:nvSpPr>
          <p:cNvPr id="21" name="Text 18"/>
          <p:cNvSpPr/>
          <p:nvPr/>
        </p:nvSpPr>
        <p:spPr>
          <a:xfrm>
            <a:off x="10058400" y="489204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最難預測（業界共同難題）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整體準確率 54.7%，遠優於隨機 33.3%。平局是預測難題，所有商業博弈公司皆有此問題。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11247120" y="6537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24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World Cup ML Prediction System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457200" y="6492240"/>
            <a:ext cx="11247120" cy="0"/>
          </a:xfrm>
          <a:prstGeom prst="line">
            <a:avLst/>
          </a:prstGeom>
          <a:noFill/>
          <a:ln w="6350">
            <a:solidFill>
              <a:srgbClr val="E8E5DD"/>
            </a:solidFill>
            <a:prstDash val="solid"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645920" cy="27432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04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502920"/>
            <a:ext cx="109728" cy="50292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4114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曲線 + 校準診斷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13232" y="98755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兩個進階指標：排序能力 vs 機率可信度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11247120" cy="0"/>
          </a:xfrm>
          <a:prstGeom prst="line">
            <a:avLst/>
          </a:prstGeom>
          <a:noFill/>
          <a:ln w="6350">
            <a:solidFill>
              <a:srgbClr val="E8E5D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28800"/>
            <a:ext cx="5486400" cy="41148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E8E5D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0116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ROC AUC — 排序能力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23774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「模型把該贏的場次排得越前面，AUC 越高」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22960" y="28346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主隊勝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286000" y="28346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F8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0.78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383280" y="28803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良好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22960" y="3246120"/>
            <a:ext cx="4937760" cy="164592"/>
          </a:xfrm>
          <a:prstGeom prst="rect">
            <a:avLst/>
          </a:prstGeom>
          <a:solidFill>
            <a:srgbClr val="E8E5DD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3246120"/>
            <a:ext cx="3851453" cy="164592"/>
          </a:xfrm>
          <a:prstGeom prst="rect">
            <a:avLst/>
          </a:prstGeom>
          <a:solidFill>
            <a:srgbClr val="5F8466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37033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主隊負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286000" y="37033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9C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0.75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3383280" y="37490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良好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22960" y="4114800"/>
            <a:ext cx="4937760" cy="164592"/>
          </a:xfrm>
          <a:prstGeom prst="rect">
            <a:avLst/>
          </a:prstGeom>
          <a:solidFill>
            <a:srgbClr val="E8E5DD"/>
          </a:solidFill>
          <a:ln/>
        </p:spPr>
      </p:sp>
      <p:sp>
        <p:nvSpPr>
          <p:cNvPr id="20" name="Shape 18"/>
          <p:cNvSpPr/>
          <p:nvPr/>
        </p:nvSpPr>
        <p:spPr>
          <a:xfrm>
            <a:off x="822960" y="4114800"/>
            <a:ext cx="3703320" cy="164592"/>
          </a:xfrm>
          <a:prstGeom prst="rect">
            <a:avLst/>
          </a:prstGeom>
          <a:solidFill>
            <a:srgbClr val="F9C846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45720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平局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286000" y="45720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0.51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3383280" y="46177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偏弱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22960" y="4983480"/>
            <a:ext cx="4937760" cy="164592"/>
          </a:xfrm>
          <a:prstGeom prst="rect">
            <a:avLst/>
          </a:prstGeom>
          <a:solidFill>
            <a:srgbClr val="E8E5DD"/>
          </a:solidFill>
          <a:ln/>
        </p:spPr>
      </p:sp>
      <p:sp>
        <p:nvSpPr>
          <p:cNvPr id="25" name="Shape 23"/>
          <p:cNvSpPr/>
          <p:nvPr/>
        </p:nvSpPr>
        <p:spPr>
          <a:xfrm>
            <a:off x="822960" y="4983480"/>
            <a:ext cx="2518258" cy="164592"/>
          </a:xfrm>
          <a:prstGeom prst="rect">
            <a:avLst/>
          </a:prstGeom>
          <a:solidFill>
            <a:srgbClr val="6B6760"/>
          </a:solidFill>
          <a:ln/>
        </p:spPr>
      </p:sp>
      <p:sp>
        <p:nvSpPr>
          <p:cNvPr id="26" name="Shape 24"/>
          <p:cNvSpPr/>
          <p:nvPr/>
        </p:nvSpPr>
        <p:spPr>
          <a:xfrm>
            <a:off x="6217920" y="1828800"/>
            <a:ext cx="5486400" cy="41148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E8E5D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92240" y="20116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🎚 校準誤差 (ECE)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492240" y="23774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「模型說 70% 勝率時，是否真的 70% 場次主隊贏」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492240" y="274320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5F8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0.083</a:t>
            </a:r>
            <a:endParaRPr lang="en-US" sz="5600" dirty="0"/>
          </a:p>
        </p:txBody>
      </p:sp>
      <p:sp>
        <p:nvSpPr>
          <p:cNvPr id="30" name="Text 28"/>
          <p:cNvSpPr/>
          <p:nvPr/>
        </p:nvSpPr>
        <p:spPr>
          <a:xfrm>
            <a:off x="6492240" y="37033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ECE (Expected Calibration Error)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675120" y="4114800"/>
            <a:ext cx="4572000" cy="0"/>
          </a:xfrm>
          <a:prstGeom prst="line">
            <a:avLst/>
          </a:prstGeom>
          <a:noFill/>
          <a:ln w="6350">
            <a:solidFill>
              <a:srgbClr val="E8E5D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92240" y="42976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&lt; 0.05 校準極佳   🟡 &lt; 0.10 良好   🟠 ≥ 0.10 偏差大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492240" y="466344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👉 本模型 ECE = 0.083 屬「良好」，機率值可按字面信賴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492240" y="516636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F8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Monte Carlo 10,000 次模擬結果可信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 ROC 量「排序能力」，校準量「機率本身的可信度」— 兩個指標檢驗不同面向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1247120" y="6537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24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World Cup ML Prediction System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57200" y="6492240"/>
            <a:ext cx="11247120" cy="0"/>
          </a:xfrm>
          <a:prstGeom prst="line">
            <a:avLst/>
          </a:prstGeom>
          <a:noFill/>
          <a:ln w="6350">
            <a:solidFill>
              <a:srgbClr val="E8E5DD"/>
            </a:solidFill>
            <a:prstDash val="solid"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645920" cy="27432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04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502920"/>
            <a:ext cx="109728" cy="50292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4114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費雪精確檢定 (Fisher's Exact Test)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13232" y="98755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用嚴格統計方法證明模型不是運氣好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11247120" cy="0"/>
          </a:xfrm>
          <a:prstGeom prst="line">
            <a:avLst/>
          </a:prstGeom>
          <a:noFill/>
          <a:ln w="6350">
            <a:solidFill>
              <a:srgbClr val="E8E5D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28800"/>
            <a:ext cx="11064240" cy="822960"/>
          </a:xfrm>
          <a:prstGeom prst="roundRect">
            <a:avLst>
              <a:gd name="adj" fmla="val 8889"/>
            </a:avLst>
          </a:prstGeom>
          <a:solidFill>
            <a:srgbClr val="FEF1C9"/>
          </a:solidFill>
          <a:ln w="12700">
            <a:solidFill>
              <a:srgbClr val="F9C84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9202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問題：54.7% 正確率是真有預測力，還是純粹運氣？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" y="22860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用「一對多 (One-vs-Rest)」拆 3×3 為 2×2 列聯表，對每類做費雪檢定</a:t>
            </a:r>
            <a:endParaRPr lang="en-US" sz="11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834640"/>
          <a:ext cx="11064240" cy="1828800"/>
        </p:xfrm>
        <a:graphic>
          <a:graphicData uri="http://schemas.openxmlformats.org/drawingml/2006/table">
            <a:tbl>
              <a:tblPr/>
              <a:tblGrid>
                <a:gridCol w="1828800"/>
                <a:gridCol w="2286000"/>
                <a:gridCol w="2286000"/>
                <a:gridCol w="46634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類別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p-value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Odds Ratio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顯著性 (α=0.05)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5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主隊負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5F84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0.0014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5F84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極顯著 ✓✓✓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平局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B67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0.6234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B67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⚠️ 未達顯著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主隊勝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5F84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8.94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5F84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極顯著 ✓✓✓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548640" y="493776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整體 3×3 卡方檢定（χ² test of independence）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48640" y="534924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8E5D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48640" y="54406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χ² 統計量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48640" y="571500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20.8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3337560" y="534924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8E5D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337560" y="54406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自由度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3337560" y="571500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6126480" y="534924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8E5DD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126480" y="54406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p-value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6126480" y="571500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0.001</a:t>
            </a:r>
            <a:endParaRPr lang="en-US" sz="1800" dirty="0"/>
          </a:p>
        </p:txBody>
      </p:sp>
      <p:sp>
        <p:nvSpPr>
          <p:cNvPr id="22" name="Shape 19"/>
          <p:cNvSpPr/>
          <p:nvPr/>
        </p:nvSpPr>
        <p:spPr>
          <a:xfrm>
            <a:off x="8915400" y="534924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8E5DD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915400" y="54406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結論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8915400" y="571500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顯著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11247120" y="6537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24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World Cup ML Prediction System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457200" y="6492240"/>
            <a:ext cx="11247120" cy="0"/>
          </a:xfrm>
          <a:prstGeom prst="line">
            <a:avLst/>
          </a:prstGeom>
          <a:noFill/>
          <a:ln w="6350">
            <a:solidFill>
              <a:srgbClr val="E8E5DD"/>
            </a:solidFill>
            <a:prstDash val="solid"/>
          </a:ln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645920" cy="27432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05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502920"/>
            <a:ext cx="109728" cy="50292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4114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球隊風格分群 — K-Means + PCA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13232" y="98755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用非監督式學習找出 48 隊的天然分類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11247120" cy="0"/>
          </a:xfrm>
          <a:prstGeom prst="line">
            <a:avLst/>
          </a:prstGeom>
          <a:noFill/>
          <a:ln w="6350">
            <a:solidFill>
              <a:srgbClr val="E8E5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8288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 方法：K-Means (k=3) + PCA 二維降維 + Silhouette 0.31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286000"/>
            <a:ext cx="110642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9050">
            <a:solidFill>
              <a:srgbClr val="F9616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2560320"/>
            <a:ext cx="777240" cy="777240"/>
          </a:xfrm>
          <a:prstGeom prst="ellipse">
            <a:avLst/>
          </a:prstGeom>
          <a:solidFill>
            <a:srgbClr val="FBC1C4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5603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⚡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1691640" y="2468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攻擊型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691640" y="28346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隊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691640" y="31546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場均進球高 · 主動進攻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0" y="2468880"/>
            <a:ext cx="6949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Argentina · Brazil · France · Germany · England · Spain · Belgium · Portugal · Netherlands · Morocco · Norway · Iran · Japan · Senegal · Algeria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48640" y="3703320"/>
            <a:ext cx="110642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9050">
            <a:solidFill>
              <a:srgbClr val="F9C84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" y="3977640"/>
            <a:ext cx="777240" cy="777240"/>
          </a:xfrm>
          <a:prstGeom prst="ellipse">
            <a:avLst/>
          </a:prstGeom>
          <a:solidFill>
            <a:srgbClr val="FCE3A4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39776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⚖️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1691640" y="38862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C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平衡型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691640" y="4251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隊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691640" y="45720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攻守均衡 · 進失球中等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0" y="3886200"/>
            <a:ext cx="6949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Australia · Austria · Canada · Cape Verde · Colombia · Croatia · DR Congo · Ecuador · Egypt · Ghana · Haiti · Iraq · Ivory Coast · Jordan · Mexico · New Zealand · Panama · Qatar · Saudi Arabia · Scotland · South Africa · South Korea · Sweden · Switzerland · Tunisia · Uruguay · Uzbekistan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48640" y="5120640"/>
            <a:ext cx="110642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9050">
            <a:solidFill>
              <a:srgbClr val="1F6E8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77240" y="5394960"/>
            <a:ext cx="777240" cy="777240"/>
          </a:xfrm>
          <a:prstGeom prst="ellipse">
            <a:avLst/>
          </a:prstGeom>
          <a:solidFill>
            <a:srgbClr val="C6D9E0"/>
          </a:solidFill>
          <a:ln/>
        </p:spPr>
      </p:sp>
      <p:sp>
        <p:nvSpPr>
          <p:cNvPr id="25" name="Text 23"/>
          <p:cNvSpPr/>
          <p:nvPr/>
        </p:nvSpPr>
        <p:spPr>
          <a:xfrm>
            <a:off x="777240" y="53949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🛡️</a:t>
            </a:r>
            <a:endParaRPr lang="en-US" sz="3200" dirty="0"/>
          </a:p>
        </p:txBody>
      </p:sp>
      <p:sp>
        <p:nvSpPr>
          <p:cNvPr id="26" name="Text 24"/>
          <p:cNvSpPr/>
          <p:nvPr/>
        </p:nvSpPr>
        <p:spPr>
          <a:xfrm>
            <a:off x="1691640" y="53035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防守型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691640" y="5669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隊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691640" y="59893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場均失球低 · 鐵桶陣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0" y="5303520"/>
            <a:ext cx="6949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Bosnia and Herzegovina · Curacao · Czechia · Paraguay · Turkiye · USA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47120" y="6537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24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World Cup ML Prediction System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57200" y="6492240"/>
            <a:ext cx="11247120" cy="0"/>
          </a:xfrm>
          <a:prstGeom prst="line">
            <a:avLst/>
          </a:prstGeom>
          <a:noFill/>
          <a:ln w="6350">
            <a:solidFill>
              <a:srgbClr val="E8E5DD"/>
            </a:solidFill>
            <a:prstDash val="solid"/>
          </a:ln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645920" cy="27432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06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502920"/>
            <a:ext cx="109728" cy="50292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4114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奪冠機率 Top 10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13232" y="98755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 次完整賽程模擬的累計結果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11247120" cy="0"/>
          </a:xfrm>
          <a:prstGeom prst="line">
            <a:avLst/>
          </a:prstGeom>
          <a:noFill/>
          <a:ln w="6350">
            <a:solidFill>
              <a:srgbClr val="E8E5DD"/>
            </a:solidFill>
            <a:prstDash val="solid"/>
          </a:ln>
        </p:spPr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64240" cy="4206240"/>
        </p:xfrm>
        <a:graphic>
          <a:graphicData uri="http://schemas.openxmlformats.org/drawingml/2006/table">
            <a:tbl>
              <a:tblPr/>
              <a:tblGrid>
                <a:gridCol w="822960"/>
                <a:gridCol w="3657600"/>
                <a:gridCol w="2194560"/>
                <a:gridCol w="2194560"/>
                <a:gridCol w="219456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排名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球隊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奪冠機率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進決賽機率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小組第一機率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5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🥇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🇦🇷 阿根廷   Argentina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961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6.14%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18.4%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77.6%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🥈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🇧🇷 巴西   Brazil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961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6.01%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77.5%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🥉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🏴󠁧󠁢󠁥󠁮󠁧󠁿 英格蘭   England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961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5.80%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18.1%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76.2%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🇫🇷 法國   France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5.75%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18.6%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76.8%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🇪🇸 西班牙   Spain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5.01%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16.7%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76.0%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🇧🇪 比利時   Belgium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4.99%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16.4%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76.5%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🇵🇹 葡萄牙   Portugal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4.65%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15.6%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75.8%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🇳🇱 荷蘭   Netherlands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4.62%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15.6%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72.8%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🇩🇪 德國   Germany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4.44%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76.2%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🇨🇴 哥倫比亞   Colombia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3.41%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62.4%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48640" y="617220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奪冠機率分散：Top 10 加起來才 ~48%，符合世界盃高度不確定性的本質。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1247120" y="6537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24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World Cup ML Prediction System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57200" y="6492240"/>
            <a:ext cx="11247120" cy="0"/>
          </a:xfrm>
          <a:prstGeom prst="line">
            <a:avLst/>
          </a:prstGeom>
          <a:noFill/>
          <a:ln w="6350">
            <a:solidFill>
              <a:srgbClr val="E8E5DD"/>
            </a:solidFill>
            <a:prstDash val="solid"/>
          </a:ln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645920" cy="27432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06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502920"/>
            <a:ext cx="109728" cy="50292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4114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奪冠機率分布視覺化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13232" y="98755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 15 名球隊的奪冠機率長條圖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11247120" cy="0"/>
          </a:xfrm>
          <a:prstGeom prst="line">
            <a:avLst/>
          </a:prstGeom>
          <a:noFill/>
          <a:ln w="6350">
            <a:solidFill>
              <a:srgbClr val="E8E5DD"/>
            </a:solidFill>
            <a:prstDash val="solid"/>
          </a:ln>
        </p:spPr>
      </p:sp>
      <p:graphicFrame>
        <p:nvGraphicFramePr>
          <p:cNvPr id="8" name="Chart 0" descr=""/>
          <p:cNvGraphicFramePr/>
          <p:nvPr/>
        </p:nvGraphicFramePr>
        <p:xfrm>
          <a:off x="548640" y="1828800"/>
          <a:ext cx="1106424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6"/>
          <p:cNvSpPr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觀察：歐洲傳統強權（法/英/比/西/德/荷/葡）佔 7 席，南美兩強（巴/阿）穩居前二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1247120" y="6537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24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World Cup ML Prediction System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57200" y="6492240"/>
            <a:ext cx="11247120" cy="0"/>
          </a:xfrm>
          <a:prstGeom prst="line">
            <a:avLst/>
          </a:prstGeom>
          <a:noFill/>
          <a:ln w="6350">
            <a:solidFill>
              <a:srgbClr val="E8E5DD"/>
            </a:solidFill>
            <a:prstDash val="solid"/>
          </a:ln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645920" cy="27432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07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502920"/>
            <a:ext cx="109728" cy="50292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4114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技術挑戰 #1：Dixon-Coles 公式 bug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13232" y="98755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強防守隊反而被預測輸球的根本原因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11247120" cy="0"/>
          </a:xfrm>
          <a:prstGeom prst="line">
            <a:avLst/>
          </a:prstGeom>
          <a:noFill/>
          <a:ln w="6350">
            <a:solidFill>
              <a:srgbClr val="E8E5D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28800"/>
            <a:ext cx="11064240" cy="822960"/>
          </a:xfrm>
          <a:prstGeom prst="roundRect">
            <a:avLst>
              <a:gd name="adj" fmla="val 8889"/>
            </a:avLst>
          </a:prstGeom>
          <a:solidFill>
            <a:srgbClr val="FDE0E1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9202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🐛 問題：南韓三項數據全優（勝率/進球/失球），卻被預測輸 1-2 給南非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" y="22860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λ_KR &lt; λ_SA，方向完全相反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834640"/>
            <a:ext cx="548640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F9616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0175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舊 (錯誤)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22960" y="3474720"/>
            <a:ext cx="4937760" cy="640080"/>
          </a:xfrm>
          <a:prstGeom prst="rect">
            <a:avLst/>
          </a:prstGeom>
          <a:solidFill>
            <a:srgbClr val="1A2B5C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47472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F9C8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λ_A = atk_A × LEAGUE_AVG / def_B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2960" y="425196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對手失球少 → 我的 λ 變大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（直覺反！）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26480" y="2834640"/>
            <a:ext cx="548640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5F846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0" y="30175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F8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 (正確)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400800" y="3474720"/>
            <a:ext cx="4937760" cy="640080"/>
          </a:xfrm>
          <a:prstGeom prst="rect">
            <a:avLst/>
          </a:prstGeom>
          <a:solidFill>
            <a:srgbClr val="1A2B5C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0" y="347472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F9C8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λ_A = atk_A × vul_B / LEAGUE_AVG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00800" y="425196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對手失球多 (vul 高) → 我容易進球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（合直覺）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534924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EF1C9"/>
          </a:solidFill>
          <a:ln w="12700">
            <a:solidFill>
              <a:srgbClr val="F9C84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54406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修正後驗算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77240" y="57607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5F84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KR vs CZ: λ_KR=1.87 &gt; λ_CZ=0.66 → MAP 1-0    |    KR vs SA: λ_KR=1.19 &gt; λ_SA=0.67 → MAP 1-0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247120" y="6537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24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World Cup ML Prediction System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57200" y="6492240"/>
            <a:ext cx="11247120" cy="0"/>
          </a:xfrm>
          <a:prstGeom prst="line">
            <a:avLst/>
          </a:prstGeom>
          <a:noFill/>
          <a:ln w="6350">
            <a:solidFill>
              <a:srgbClr val="E8E5DD"/>
            </a:solidFill>
            <a:prstDash val="solid"/>
          </a:ln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645920" cy="27432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07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502920"/>
            <a:ext cx="109728" cy="50292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4114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技術挑戰 #2：平局悖論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13232" y="98755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「平局機率只 20%」為何「每場都被預測平局」？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11247120" cy="0"/>
          </a:xfrm>
          <a:prstGeom prst="line">
            <a:avLst/>
          </a:prstGeom>
          <a:noFill/>
          <a:ln w="6350">
            <a:solidFill>
              <a:srgbClr val="E8E5D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28800"/>
            <a:ext cx="11064240" cy="1097280"/>
          </a:xfrm>
          <a:prstGeom prst="roundRect">
            <a:avLst>
              <a:gd name="adj" fmla="val 6667"/>
            </a:avLst>
          </a:prstGeom>
          <a:solidFill>
            <a:srgbClr val="FEF1C9"/>
          </a:solidFill>
          <a:ln w="12700">
            <a:solidFill>
              <a:srgbClr val="F9C84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9202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看似矛盾的觀察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" y="22860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P(平局) 顯示只 20-27%，但 MAP「最高機率單一比分」常是 (1,1) — 為什麼？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77240" y="26060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答：當 λ_A ≈ λ_B 接近時，Poisson 分布的最高單一格落在 (1,1)，但「整體勝方總和」可能仍 &gt; 平局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154680"/>
            <a:ext cx="548640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25400">
            <a:solidFill>
              <a:srgbClr val="F9616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3375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舊策略：絕對 MAP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22960" y="37947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方法：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828800" y="379476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找整個 Poisson 矩陣最大值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22960" y="45262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結果：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828800" y="452628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 接近時恆挑 (1,1) 平局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與機率方向不一致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26480" y="3154680"/>
            <a:ext cx="548640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25400">
            <a:solidFill>
              <a:srgbClr val="5F846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0" y="33375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F8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新策略：方向約束 MAP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00800" y="37947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方法：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406640" y="379476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先決定主預測方向 → 在該方向 cells 找最強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00800" y="45262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結果：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406640" y="452628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比分方向 = 機率方向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保證內部一致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8640" y="59436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預測比分 = 與整體勝率方向相符的「最強單一比分」，避免「預測平局又說對方贏面大」的視覺矛盾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1247120" y="6537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24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World Cup ML Prediction System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57200" y="6492240"/>
            <a:ext cx="11247120" cy="0"/>
          </a:xfrm>
          <a:prstGeom prst="line">
            <a:avLst/>
          </a:prstGeom>
          <a:noFill/>
          <a:ln w="6350">
            <a:solidFill>
              <a:srgbClr val="E8E5DD"/>
            </a:solidFill>
            <a:prstDash val="solid"/>
          </a:ln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645920" cy="27432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07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502920"/>
            <a:ext cx="109728" cy="50292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4114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技術挑戰 #3：資料品質校正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13232" y="98755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用程式審計揪出 + 修正 48 隊 × 240 球員的資料錯誤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11247120" cy="0"/>
          </a:xfrm>
          <a:prstGeom prst="line">
            <a:avLst/>
          </a:prstGeom>
          <a:noFill/>
          <a:ln w="6350">
            <a:solidFill>
              <a:srgbClr val="E8E5D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28800"/>
            <a:ext cx="5486400" cy="4389120"/>
          </a:xfrm>
          <a:prstGeom prst="roundRect">
            <a:avLst>
              <a:gd name="adj" fmla="val 2083"/>
            </a:avLst>
          </a:prstGeom>
          <a:solidFill>
            <a:srgbClr val="FFFFFF"/>
          </a:solidFill>
          <a:ln w="19050">
            <a:solidFill>
              <a:srgbClr val="F9616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011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📊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463040" y="205740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TEAM_INFO 校正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463040" y="242316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 隊 / 18 項修正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9260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6167"/>
                </a:solidFill>
              </a:rPr>
              <a:t>▶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143000" y="29260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Argentina 從 #3 改為 #1（2022 WC 冠軍）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22960" y="34747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6167"/>
                </a:solidFill>
              </a:rPr>
              <a:t>▶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43000" y="34747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對重複 rank 修正 (Switzerland/Czechia/SA)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22960" y="402336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6167"/>
                </a:solidFill>
              </a:rPr>
              <a:t>▶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43000" y="40233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Bosnia 50→78（差 28 名）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22960" y="45720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6167"/>
                </a:solidFill>
              </a:rPr>
              <a:t>▶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43000" y="45720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Norway/Canada/Algeria 等 10+ 隊校正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22960" y="51206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6167"/>
                </a:solidFill>
              </a:rPr>
              <a:t>▶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143000" y="512064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↔ pts 100% 嚴格反向單調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126480" y="1828800"/>
            <a:ext cx="5486400" cy="4389120"/>
          </a:xfrm>
          <a:prstGeom prst="roundRect">
            <a:avLst>
              <a:gd name="adj" fmla="val 2083"/>
            </a:avLst>
          </a:prstGeom>
          <a:solidFill>
            <a:srgbClr val="FFFFFF"/>
          </a:solidFill>
          <a:ln w="19050">
            <a:solidFill>
              <a:srgbClr val="1F6E8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0" y="2011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👥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7040880" y="205740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SQUAD_DATA 校正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040880" y="242316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240 球員 / 9 項修正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00800" y="29260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6E8C"/>
                </a:solidFill>
              </a:rPr>
              <a:t>▶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720840" y="29260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位退役/退出國家隊球員替換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00800" y="34747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6E8C"/>
                </a:solidFill>
              </a:rPr>
              <a:t>▶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720840" y="34747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Modrić Real Madrid → AC Milan（2025）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400800" y="402336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6E8C"/>
                </a:solidFill>
              </a:rPr>
              <a:t>▶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720840" y="40233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Džeko Fenerbahçe → Başakşehir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400800" y="45720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6E8C"/>
                </a:solidFill>
              </a:rPr>
              <a:t>▶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720840" y="45720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Messi 37→38 歲、Ronaldo 40→41 歲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400800" y="51206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6E8C"/>
                </a:solidFill>
              </a:rPr>
              <a:t>▶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720840" y="512064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G. Ramos (葡萄牙人) 從 Cape Verde 移除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1247120" y="6537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24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World Cup ML Prediction System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57200" y="6492240"/>
            <a:ext cx="11247120" cy="0"/>
          </a:xfrm>
          <a:prstGeom prst="line">
            <a:avLst/>
          </a:prstGeom>
          <a:noFill/>
          <a:ln w="6350">
            <a:solidFill>
              <a:srgbClr val="E8E5DD"/>
            </a:solidFill>
            <a:prstDash val="solid"/>
          </a:ln>
        </p:spPr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645920" cy="27432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08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502920"/>
            <a:ext cx="109728" cy="50292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4114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主要發現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13232" y="98755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本專題的 4 個關鍵成果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11247120" cy="0"/>
          </a:xfrm>
          <a:prstGeom prst="line">
            <a:avLst/>
          </a:prstGeom>
          <a:noFill/>
          <a:ln w="6350">
            <a:solidFill>
              <a:srgbClr val="E8E5D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28800"/>
            <a:ext cx="109728" cy="96012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8288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1828800" y="1874520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模型準確率顯著優於隨機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828800" y="2240280"/>
            <a:ext cx="9784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Walk-Forward 平均 52.0%，比隨機 33.3% 高 18.7 個百分點。費雪檢定 + 卡方檢定都拒絕「模型在亂猜」的虛無假設。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2926080"/>
            <a:ext cx="109728" cy="960120"/>
          </a:xfrm>
          <a:prstGeom prst="rect">
            <a:avLst/>
          </a:prstGeom>
          <a:solidFill>
            <a:srgbClr val="F9C846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29260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9C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1828800" y="2971800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奪冠機率分散合理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828800" y="3337560"/>
            <a:ext cx="9784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阿根廷 6.14% / 巴西 6.01% / 英格蘭 5.80% / 法國 5.75% — 前 10 累計約 50%。符合世界盃高度不確定性的本質，沒有出現單一球隊獨大的失真。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4023360"/>
            <a:ext cx="109728" cy="960120"/>
          </a:xfrm>
          <a:prstGeom prst="rect">
            <a:avLst/>
          </a:prstGeom>
          <a:solidFill>
            <a:srgbClr val="5F8466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40233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5F8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1828800" y="4069080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風格分群揭示 15 攻 27 平 6 守 結構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828800" y="4434840"/>
            <a:ext cx="9784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自動發現的分群與直覺一致：歐美/南美強隊多為攻擊型，東歐/亞洲球隊多為平衡或防守型。Silhouette 0.33 顯示適度可分。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5120640"/>
            <a:ext cx="109728" cy="960120"/>
          </a:xfrm>
          <a:prstGeom prst="rect">
            <a:avLst/>
          </a:prstGeom>
          <a:solidFill>
            <a:srgbClr val="1F6E8C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51206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1828800" y="5166360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公式修正 + 多因素 λ 帶來預測一致性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828800" y="5532120"/>
            <a:ext cx="9784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修正 Dixon-Coles 公式方向錯誤、引入 4 因素複合 λ 修正、加入方向約束 MAP，三項共同確保預測結果與球隊強度視覺一致。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1247120" y="6537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24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World Cup ML Prediction System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57200" y="6492240"/>
            <a:ext cx="11247120" cy="0"/>
          </a:xfrm>
          <a:prstGeom prst="line">
            <a:avLst/>
          </a:prstGeom>
          <a:noFill/>
          <a:ln w="6350">
            <a:solidFill>
              <a:srgbClr val="E8E5DD"/>
            </a:solidFill>
            <a:prstDash val="solid"/>
          </a:ln>
        </p:spPr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645920" cy="27432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08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502920"/>
            <a:ext cx="109728" cy="50292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4114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系統限制與未來改進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13232" y="98755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誠實面對：本系統的 5 個侷限與後續方向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11247120" cy="0"/>
          </a:xfrm>
          <a:prstGeom prst="line">
            <a:avLst/>
          </a:prstGeom>
          <a:noFill/>
          <a:ln w="6350">
            <a:solidFill>
              <a:srgbClr val="E8E5D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2880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8E5D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82880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⚠️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371600" y="19202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平局預測能力有限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371600" y="22402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平局 Recall 7%、AUC 0.51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577840" y="1828800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96167"/>
                </a:solidFill>
              </a:rPr>
              <a:t>→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126480" y="18745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未來方向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126480" y="2121408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嘗試 Skellam 分布或專門平局模型，導入即時賠率回饋校正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274320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8E5D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274320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📅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371600" y="28346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球員傷病/紅黃牌未考慮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371600" y="31546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用季前主將平均 OVR 估算實力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577840" y="2743200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96167"/>
                </a:solidFill>
              </a:rPr>
              <a:t>→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126480" y="27889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未來方向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126480" y="3035808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整合即時傷兵名單 API（如 Transfermarkt），動態調整 OVR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365760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8E5D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" y="365760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🌐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1371600" y="37490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資料時間範圍可再擴張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371600" y="40690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近 8 年加權，2025-2026 資料 1,167 場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577840" y="3657600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96167"/>
                </a:solidFill>
              </a:rPr>
              <a:t>→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126480" y="3703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未來方向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126480" y="3950208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增加歐國盃、美洲盃、亞洲盃等大賽結果作為遷移學習來源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48640" y="457200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8E5D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1520" y="457200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🎲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1371600" y="46634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 Carlo 假設賽程獨立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371600" y="49834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假設每場勝率不受前場結果影響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577840" y="4572000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96167"/>
                </a:solidFill>
              </a:rPr>
              <a:t>→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6126480" y="46177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未來方向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126480" y="4864608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加入「momentum」、「疲勞」、「傷病累積」等動態狀態變數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48640" y="548640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8E5D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31520" y="548640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1371600" y="55778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模型可解釋性可加強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1371600" y="58978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提供特徵重要性 + 費雪檢定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577840" y="5486400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96167"/>
                </a:solidFill>
              </a:rPr>
              <a:t>→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6126480" y="55321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未來方向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126480" y="5779008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整合 SHAP values 對單場預測做特徵級貢獻分解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11247120" y="6537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24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World Cup ML Prediction System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57200" y="6492240"/>
            <a:ext cx="11247120" cy="0"/>
          </a:xfrm>
          <a:prstGeom prst="line">
            <a:avLst/>
          </a:prstGeom>
          <a:noFill/>
          <a:ln w="6350">
            <a:solidFill>
              <a:srgbClr val="E8E5DD"/>
            </a:solidFill>
            <a:prstDash val="solid"/>
          </a:ln>
        </p:spPr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A2B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828800"/>
            <a:ext cx="3657600" cy="0"/>
          </a:xfrm>
          <a:prstGeom prst="line">
            <a:avLst/>
          </a:prstGeom>
          <a:noFill/>
          <a:ln w="38100">
            <a:solidFill>
              <a:srgbClr val="F9C8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219456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謝謝聆聽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914400" y="35661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 &amp; Questions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914400" y="4572000"/>
            <a:ext cx="10332720" cy="1371600"/>
          </a:xfrm>
          <a:prstGeom prst="roundRect">
            <a:avLst>
              <a:gd name="adj" fmla="val 6667"/>
            </a:avLst>
          </a:prstGeom>
          <a:solidFill>
            <a:srgbClr val="2D3E69"/>
          </a:solidFill>
          <a:ln w="12700">
            <a:solidFill>
              <a:srgbClr val="F9C84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7091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C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線上互動 Demo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88720" y="50749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8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https://worldcup-ml-2026-bzplzw7hoy7g5dcizaakvt.streamlit.app/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88720" y="54864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原始碼：github.com/AstorYeh/worldcup-ml-2026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6355080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F9C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PROJECT ·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 世界盃 ML 預測系統 — 期末專題報告</dc:title>
  <dc:subject>PptxGenJS Presentation</dc:subject>
  <dc:creator>Jay Yeh</dc:creator>
  <cp:lastModifiedBy>Jay Yeh</cp:lastModifiedBy>
  <cp:revision>1</cp:revision>
  <dcterms:created xsi:type="dcterms:W3CDTF">2026-05-29T13:04:03Z</dcterms:created>
  <dcterms:modified xsi:type="dcterms:W3CDTF">2026-05-29T13:04:03Z</dcterms:modified>
</cp:coreProperties>
</file>